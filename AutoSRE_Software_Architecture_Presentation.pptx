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professors and evaluators. Today I am presenting AutoSRE, an Autonomous DevOps and Site Reliability Engineering Control Plane. This project is evaluated specifically through the lens of Software Architecture and Design (SAD). We address one of the most critical challenges in cloud computing: how to transition from high-stress, error-prone manual 3 AM outage triage to a mathematically bounded, autonomous self-healing system using rigorous 5-tier layered architecture, finite state machines, and safe AI reasoning.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contrast traditional manual SRE against AutoSRE. In production cloud systems, microservices fail unpredictably. Human engineers take an average of 45-60 minutes to resolve incidents because they must wake up, read raw logs, and find documentation. AutoSRE automates this entire loop in under 15 seconds. The ICU hospital monitor analogy makes this intuitive: you cannot afford 45 minutes of downtime when patient vitals or financial transactions are on the 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address the core question in Software Architecture &amp; Design: why do we need architecture at all? Without architecture, software degenerates into the 'Spaghetti Monolith' or 'Big Ball of Mud' anti-pattern. Layered Architecture enforces Separation of Concerns: each layer has one job. Our Restaurant Kitchen analogy makes this crystal clear for evaluators: a waiter never cooks, a customer never enters the pantry, and food is never served without safety inspection. That is exactly how AutoSRE safeguards production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formal 5-tier layered architecture blueprint of AutoSRE. Notice the clean progression from Tier 1 (Presentation) down to Tier 5 (Persistence and Infrastructure). Every layer has an explicit responsibility. For example, Tier 3 (Cognitive Reasoning) formulates a remediation proposal, but Tier 3 has ZERO execution authority. Only Tier 4 (Policy &amp; Execution) can invoke Docker SDK calls, and only after verifying allowlists. This architectural constraint mathematically prevents runaway AI agents.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Software Architecture is defined by the patterns it embodies. Here we show the 8 core patterns implemented in AutoSRE. For example, the Gatekeeper pattern protects production from AI hallucinations; the Strategy pattern allows our reasoner to toggle between Gemini 3.5 Lite and offline heuristic rules for 100% availability; and the Observer pattern allows Prometheus to monitor microservices without injecting intrusive agent sidecars into user code.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Software Architecture and Design, Component and Connector (C&amp;C) views describe the runtime flow of data and control. Here we trace the 8 runtime stages of AutoSRE. Notice that every connector is explicitly defined. Telemetry moves from the fleet to the ML engine; when an anomaly is detected, LangGraph invokes the RAG retriever, which feeds context to Gemini 3.5 Lite. The policy gatekeeper intercepts the output, and only after validation is the tool executed and committed to the audit ledger.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Behavioral modeling is essential in SAD. Unlike naive LLM scripts that run open-ended bash loops, AutoSRE uses LangGraph to construct a formal Finite State Machine (FSM). The agent transitions through 4 clear phases: Sense, Plan, Gatekeep, and Act &amp; Verify. Crucially, the Gatekeep phase allows the system to enter a pause state (PENDING_APPROVAL) where human operators can intervene.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academic Software Architecture, Quality Attributes (NFRs) and Architectural Decision Records (ADRs) are essential. Here we show that every architectural choice had clear alternatives and engineering trade-offs. For instance, ADR-01 chose LangGraph FSM over simple linear chains because self-healing requires cyclic retry loops. ADR-02 chose a Zero-Shell policy allowlist over raw bash execution to mathematically guarantee safety.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discuss software development methodologies as requested. The Waterfall model is rigid: requirements are frozen upfront, and testing occurs only at the very end. In cloud DevOps and SRE, Waterfall fails catastrophically because cloud failures are dynamic and emergent. AutoSRE adopts the SRE Continuous Agile Lifecycle: we use automated unit testing and Chaos Engineering fire drills to continuously validate that our autonomous reflex arc handles unforeseen incidents safely.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showcase the actual running operational cockpit captured from our live test sessions. Top-left (Fig 1) shows the Incident War Room with Google Gemini 3.5 Flash Lite root-cause analysis and confidence rating. Top-right (Fig 2) shows the SVG topology mesh with live node latencies and health states. Bottom-left (Fig 3) shows the dynamic endpoint discovery modal. Bottom-right (Fig 4) shows our Chaos Lab, which lets evaluators inject connection pool leaks and CPU spikes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our actual end-to-end case study: resolving a payment-service database connection pool exhaustion incident. In a traditional setup, this incident causes 45+ minutes of downtime. AutoSRE completes all 9 steps — detection, runbook retrieval, Gemini RCA, human gatekeeping, Docker restart, verification, and audit logging — in just 11.4 seconds. This is a 99.6% reduction in Mean Time to Resolve.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present the empirical verification of our architecture. We have 36 automated unit tests passing with a 100% pass rate across all 6 subsystems. Furthermore, our scope matrix clearly delineates what is verified and implemented in code versus what is proposed for future enterprise expansion.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AutoSRE demonstrates that the secret to safe autonomous AI in DevOps is rigorous Software Architecture. By enforcing layered separation of concerns, finite state machines, and a Zero-Shell policy boundary, we achieve sub-15-second incident remediation while mathematically protecting production environments. Thank you for your time, and I am now ready to answer any questions regarding the software architecture and design.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0F172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097280"/>
            <a:ext cx="4754880" cy="347472"/>
          </a:xfrm>
          <a:prstGeom prst="roundRect">
            <a:avLst/>
          </a:prstGeom>
          <a:solidFill>
            <a:srgbClr val="1E3A8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latin typeface="Segoe UI"/>
              </a:defRPr>
            </a:pPr>
            <a:r>
              <a:t>ACADEMIC DEFENSE • SOFTWARE ARCHITECTURE &amp; DESIGN (SAD)</a:t>
            </a:r>
          </a:p>
        </p:txBody>
      </p:sp>
      <p:sp>
        <p:nvSpPr>
          <p:cNvPr id="5" name="TextBox 4"/>
          <p:cNvSpPr txBox="1"/>
          <p:nvPr/>
        </p:nvSpPr>
        <p:spPr>
          <a:xfrm>
            <a:off x="1097280" y="1600200"/>
            <a:ext cx="10058400" cy="1280160"/>
          </a:xfrm>
          <a:prstGeom prst="rect">
            <a:avLst/>
          </a:prstGeom>
          <a:noFill/>
        </p:spPr>
        <p:txBody>
          <a:bodyPr wrap="square">
            <a:spAutoFit/>
          </a:bodyPr>
          <a:lstStyle/>
          <a:p>
            <a:pPr>
              <a:defRPr sz="3200" b="1">
                <a:solidFill>
                  <a:srgbClr val="F8FAFC"/>
                </a:solidFill>
                <a:latin typeface="Segoe UI"/>
              </a:defRPr>
            </a:pPr>
            <a:r>
              <a:t>AUTOSRE: AUTONOMOUS SRE CONTROL PLANE</a:t>
            </a:r>
          </a:p>
          <a:p>
            <a:pPr>
              <a:spcBef>
                <a:spcPts val="800"/>
              </a:spcBef>
              <a:defRPr sz="1500">
                <a:solidFill>
                  <a:srgbClr val="38BDF8"/>
                </a:solidFill>
                <a:latin typeface="Segoe UI"/>
              </a:defRPr>
            </a:pPr>
            <a:r>
              <a:t>Software Architecture, Multi-Tier Decomposition &amp; Closed-Loop Autonomous Healing for Cloud Systems</a:t>
            </a:r>
          </a:p>
        </p:txBody>
      </p:sp>
      <p:sp>
        <p:nvSpPr>
          <p:cNvPr id="6" name="TextBox 5"/>
          <p:cNvSpPr txBox="1"/>
          <p:nvPr/>
        </p:nvSpPr>
        <p:spPr>
          <a:xfrm>
            <a:off x="1097280" y="2926080"/>
            <a:ext cx="9875520" cy="822960"/>
          </a:xfrm>
          <a:prstGeom prst="rect">
            <a:avLst/>
          </a:prstGeom>
          <a:noFill/>
        </p:spPr>
        <p:txBody>
          <a:bodyPr wrap="square">
            <a:spAutoFit/>
          </a:bodyPr>
          <a:lstStyle/>
          <a:p>
            <a:pPr>
              <a:defRPr sz="1150">
                <a:solidFill>
                  <a:srgbClr val="94A3B8"/>
                </a:solidFill>
                <a:latin typeface="Segoe UI"/>
              </a:defRPr>
            </a:pPr>
            <a:r>
              <a:t>An end-to-end autonomous DevOps &amp; SRE control plane featuring 5-tier layered separation of concerns, 8-node LangGraph finite state machine, Drain+Isolation Forest unsupervised ML, grounded SRE runbook RAG, and deterministic Zero-Shell security boundaries.</a:t>
            </a:r>
          </a:p>
        </p:txBody>
      </p:sp>
      <p:sp>
        <p:nvSpPr>
          <p:cNvPr id="7" name="Rounded Rectangle 6"/>
          <p:cNvSpPr/>
          <p:nvPr/>
        </p:nvSpPr>
        <p:spPr>
          <a:xfrm>
            <a:off x="1097280" y="3931920"/>
            <a:ext cx="3108960" cy="182880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38BDF8"/>
                </a:solidFill>
              </a:defRPr>
            </a:pPr>
            <a:r>
              <a:t>LAYERED ARCHITECTURE</a:t>
            </a:r>
          </a:p>
          <a:p>
            <a:pPr>
              <a:spcBef>
                <a:spcPts val="600"/>
              </a:spcBef>
              <a:defRPr sz="950">
                <a:solidFill>
                  <a:srgbClr val="E2E8F0"/>
                </a:solidFill>
              </a:defRPr>
            </a:pPr>
            <a:r>
              <a:t>• 5 independent horizontal tiers</a:t>
            </a:r>
            <a:br/>
            <a:r>
              <a:t>• Presentation, API, AI, Policy, DB</a:t>
            </a:r>
            <a:br/>
            <a:r>
              <a:t>• Strict separation of concerns (SoC)</a:t>
            </a:r>
            <a:br/>
            <a:r>
              <a:t>• Blast radius isolation across fleet</a:t>
            </a:r>
          </a:p>
        </p:txBody>
      </p:sp>
      <p:sp>
        <p:nvSpPr>
          <p:cNvPr id="8" name="Rounded Rectangle 7"/>
          <p:cNvSpPr/>
          <p:nvPr/>
        </p:nvSpPr>
        <p:spPr>
          <a:xfrm>
            <a:off x="4480560" y="3931920"/>
            <a:ext cx="3108960" cy="1828800"/>
          </a:xfrm>
          <a:prstGeom prst="roundRect">
            <a:avLst/>
          </a:prstGeom>
          <a:solidFill>
            <a:srgbClr val="1E293B"/>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A78BFA"/>
                </a:solidFill>
              </a:defRPr>
            </a:pPr>
            <a:r>
              <a:t>8-NODE LANGGRAPH FSM</a:t>
            </a:r>
          </a:p>
          <a:p>
            <a:pPr>
              <a:spcBef>
                <a:spcPts val="600"/>
              </a:spcBef>
              <a:defRPr sz="950">
                <a:solidFill>
                  <a:srgbClr val="E2E8F0"/>
                </a:solidFill>
              </a:defRPr>
            </a:pPr>
            <a:r>
              <a:t>• Autonomous Sense-Plan-Act reflex</a:t>
            </a:r>
            <a:br/>
            <a:r>
              <a:t>• Google Gemini 3.5 Flash Lite RCA</a:t>
            </a:r>
            <a:br/>
            <a:r>
              <a:t>• Deterministic heuristic fallback</a:t>
            </a:r>
            <a:br/>
            <a:r>
              <a:t>• Human-in-the-loop approval gate</a:t>
            </a:r>
          </a:p>
        </p:txBody>
      </p:sp>
      <p:sp>
        <p:nvSpPr>
          <p:cNvPr id="9" name="Rounded Rectangle 8"/>
          <p:cNvSpPr/>
          <p:nvPr/>
        </p:nvSpPr>
        <p:spPr>
          <a:xfrm>
            <a:off x="7863840" y="3931920"/>
            <a:ext cx="3108960" cy="182880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34D399"/>
                </a:solidFill>
              </a:defRPr>
            </a:pPr>
            <a:r>
              <a:t>VERIFIED IN CODEBASE</a:t>
            </a:r>
          </a:p>
          <a:p>
            <a:pPr>
              <a:spcBef>
                <a:spcPts val="600"/>
              </a:spcBef>
              <a:defRPr sz="950">
                <a:solidFill>
                  <a:srgbClr val="E2E8F0"/>
                </a:solidFill>
              </a:defRPr>
            </a:pPr>
            <a:r>
              <a:t>• 36/36 Unit Tests Passing (100%)</a:t>
            </a:r>
            <a:br/>
            <a:r>
              <a:t>• MTTR reduced: 60+ min -&gt; &lt;15 sec</a:t>
            </a:r>
            <a:br/>
            <a:r>
              <a:t>• Zero-Shell execution security</a:t>
            </a:r>
            <a:br/>
            <a:r>
              <a:t>• SQLite 3 WAL immutable audit 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38BDF8"/>
                </a:solidFill>
                <a:latin typeface="Segoe UI"/>
              </a:defRPr>
            </a:pPr>
            <a:r>
              <a:t>1. MOTIVATION &amp; PROBLEM STATEMENT</a:t>
            </a:r>
          </a:p>
        </p:txBody>
      </p:sp>
      <p:sp>
        <p:nvSpPr>
          <p:cNvPr id="4" name="TextBox 3"/>
          <p:cNvSpPr txBox="1"/>
          <p:nvPr/>
        </p:nvSpPr>
        <p:spPr>
          <a:xfrm>
            <a:off x="731520" y="731520"/>
            <a:ext cx="10698480" cy="548640"/>
          </a:xfrm>
          <a:prstGeom prst="rect">
            <a:avLst/>
          </a:prstGeom>
          <a:noFill/>
        </p:spPr>
        <p:txBody>
          <a:bodyPr wrap="square" lIns="0" tIns="0" rIns="0" bIns="0">
            <a:spAutoFit/>
          </a:bodyPr>
          <a:lstStyle/>
          <a:p>
            <a:pPr>
              <a:defRPr sz="2200" b="1">
                <a:solidFill>
                  <a:srgbClr val="F8FAFC"/>
                </a:solidFill>
                <a:latin typeface="Segoe UI"/>
              </a:defRPr>
            </a:pPr>
            <a:r>
              <a:t>The Crisis of Manual SRE at 3 AM vs. Autonomous Self-Healing</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pPr>
              <a:defRPr sz="1200">
                <a:solidFill>
                  <a:srgbClr val="94A3B8"/>
                </a:solidFill>
                <a:latin typeface="Segoe UI"/>
              </a:defRPr>
            </a:pPr>
            <a:r>
              <a:t>Why traditional DevOps operations fail under modern cloud scale and complexity</a:t>
            </a:r>
          </a:p>
        </p:txBody>
      </p:sp>
      <p:sp>
        <p:nvSpPr>
          <p:cNvPr id="6" name="Rounded Rectangle 5"/>
          <p:cNvSpPr/>
          <p:nvPr/>
        </p:nvSpPr>
        <p:spPr>
          <a:xfrm>
            <a:off x="731520" y="1737360"/>
            <a:ext cx="5212080" cy="3108960"/>
          </a:xfrm>
          <a:prstGeom prst="roundRect">
            <a:avLst/>
          </a:prstGeom>
          <a:solidFill>
            <a:srgbClr val="1E293B"/>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200">
                <a:solidFill>
                  <a:srgbClr val="F87171"/>
                </a:solidFill>
              </a:defRPr>
            </a:pPr>
            <a:r>
              <a:t>🔴 THE TRADITIONAL CRISIS (MANUAL SRE)</a:t>
            </a:r>
          </a:p>
          <a:p>
            <a:pPr>
              <a:spcBef>
                <a:spcPts val="300"/>
              </a:spcBef>
            </a:pPr>
            <a:r>
              <a:rPr b="1" sz="950">
                <a:solidFill>
                  <a:srgbClr val="F8FAFC"/>
                </a:solidFill>
              </a:rPr>
              <a:t>• Outage at 3 AM: </a:t>
            </a:r>
            <a:r>
              <a:rPr sz="950">
                <a:solidFill>
                  <a:srgbClr val="E2E8F0"/>
                </a:solidFill>
              </a:rPr>
              <a:t>Database connection pool exhausts or memory leak crashes microservice.</a:t>
            </a:r>
          </a:p>
          <a:p>
            <a:pPr>
              <a:spcBef>
                <a:spcPts val="300"/>
              </a:spcBef>
            </a:pPr>
            <a:r>
              <a:rPr b="1" sz="950">
                <a:solidFill>
                  <a:srgbClr val="F8FAFC"/>
                </a:solidFill>
              </a:rPr>
              <a:t>• PagerDuty Alerts: </a:t>
            </a:r>
            <a:r>
              <a:rPr sz="950">
                <a:solidFill>
                  <a:srgbClr val="E2E8F0"/>
                </a:solidFill>
              </a:rPr>
              <a:t>On-call engineer woken up groggy; spends 15 mins getting online.</a:t>
            </a:r>
          </a:p>
          <a:p>
            <a:pPr>
              <a:spcBef>
                <a:spcPts val="300"/>
              </a:spcBef>
            </a:pPr>
            <a:r>
              <a:rPr b="1" sz="950">
                <a:solidFill>
                  <a:srgbClr val="F8FAFC"/>
                </a:solidFill>
              </a:rPr>
              <a:t>• Manual Log Digging: </a:t>
            </a:r>
            <a:r>
              <a:rPr sz="950">
                <a:solidFill>
                  <a:srgbClr val="E2E8F0"/>
                </a:solidFill>
              </a:rPr>
              <a:t>Grep through gigabytes of raw logs across multiple servers.</a:t>
            </a:r>
          </a:p>
          <a:p>
            <a:pPr>
              <a:spcBef>
                <a:spcPts val="300"/>
              </a:spcBef>
            </a:pPr>
            <a:r>
              <a:rPr b="1" sz="950">
                <a:solidFill>
                  <a:srgbClr val="F8FAFC"/>
                </a:solidFill>
              </a:rPr>
              <a:t>• Outdated Runbooks: </a:t>
            </a:r>
            <a:r>
              <a:rPr sz="950">
                <a:solidFill>
                  <a:srgbClr val="E2E8F0"/>
                </a:solidFill>
              </a:rPr>
              <a:t>Engineering wikis are incomplete or missing critical steps.</a:t>
            </a:r>
          </a:p>
          <a:p>
            <a:pPr>
              <a:spcBef>
                <a:spcPts val="300"/>
              </a:spcBef>
            </a:pPr>
            <a:r>
              <a:rPr b="1" sz="950">
                <a:solidFill>
                  <a:srgbClr val="F8FAFC"/>
                </a:solidFill>
              </a:rPr>
              <a:t>• Dangerous SSH Commands: </a:t>
            </a:r>
            <a:r>
              <a:rPr sz="950">
                <a:solidFill>
                  <a:srgbClr val="E2E8F0"/>
                </a:solidFill>
              </a:rPr>
              <a:t>Tired engineer types shell commands directly on production.</a:t>
            </a:r>
          </a:p>
          <a:p>
            <a:pPr>
              <a:spcBef>
                <a:spcPts val="300"/>
              </a:spcBef>
            </a:pPr>
            <a:r>
              <a:rPr b="1" sz="950">
                <a:solidFill>
                  <a:srgbClr val="F8FAFC"/>
                </a:solidFill>
              </a:rPr>
              <a:t>• High MTTR: </a:t>
            </a:r>
            <a:r>
              <a:rPr sz="950">
                <a:solidFill>
                  <a:srgbClr val="E2E8F0"/>
                </a:solidFill>
              </a:rPr>
              <a:t>Mean Time to Resolve exceeds 45 to 60+ minutes of costly downtime.</a:t>
            </a:r>
          </a:p>
        </p:txBody>
      </p:sp>
      <p:sp>
        <p:nvSpPr>
          <p:cNvPr id="7" name="Rounded Rectangle 6"/>
          <p:cNvSpPr/>
          <p:nvPr/>
        </p:nvSpPr>
        <p:spPr>
          <a:xfrm>
            <a:off x="6217920" y="1737360"/>
            <a:ext cx="5212080" cy="31089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200">
                <a:solidFill>
                  <a:srgbClr val="34D399"/>
                </a:solidFill>
              </a:defRPr>
            </a:pPr>
            <a:r>
              <a:t>🟢 THE AUTOSRE SOLUTION (AUTONOMOUS REFLEX)</a:t>
            </a:r>
          </a:p>
          <a:p>
            <a:pPr>
              <a:spcBef>
                <a:spcPts val="300"/>
              </a:spcBef>
            </a:pPr>
            <a:r>
              <a:rPr b="1" sz="950">
                <a:solidFill>
                  <a:srgbClr val="F8FAFC"/>
                </a:solidFill>
              </a:rPr>
              <a:t>• Sub-Second Detection: </a:t>
            </a:r>
            <a:r>
              <a:rPr sz="950">
                <a:solidFill>
                  <a:srgbClr val="E2E8F0"/>
                </a:solidFill>
              </a:rPr>
              <a:t>Drain regex parser + Isolation Forest scores anomaly in &lt;8ms.</a:t>
            </a:r>
          </a:p>
          <a:p>
            <a:pPr>
              <a:spcBef>
                <a:spcPts val="300"/>
              </a:spcBef>
            </a:pPr>
            <a:r>
              <a:rPr b="1" sz="950">
                <a:solidFill>
                  <a:srgbClr val="F8FAFC"/>
                </a:solidFill>
              </a:rPr>
              <a:t>• Grounded Runbook RAG: </a:t>
            </a:r>
            <a:r>
              <a:rPr sz="950">
                <a:solidFill>
                  <a:srgbClr val="E2E8F0"/>
                </a:solidFill>
              </a:rPr>
              <a:t>TF-IDF vector matcher retrieves official verified SRE runbook.</a:t>
            </a:r>
          </a:p>
          <a:p>
            <a:pPr>
              <a:spcBef>
                <a:spcPts val="300"/>
              </a:spcBef>
            </a:pPr>
            <a:r>
              <a:rPr b="1" sz="950">
                <a:solidFill>
                  <a:srgbClr val="F8FAFC"/>
                </a:solidFill>
              </a:rPr>
              <a:t>• Cognitive Root Cause RCA: </a:t>
            </a:r>
            <a:r>
              <a:rPr sz="950">
                <a:solidFill>
                  <a:srgbClr val="E2E8F0"/>
                </a:solidFill>
              </a:rPr>
              <a:t>Google Gemini 3.5 Flash Lite outputs structured JSON diagnosis.</a:t>
            </a:r>
          </a:p>
          <a:p>
            <a:pPr>
              <a:spcBef>
                <a:spcPts val="300"/>
              </a:spcBef>
            </a:pPr>
            <a:r>
              <a:rPr b="1" sz="950">
                <a:solidFill>
                  <a:srgbClr val="F8FAFC"/>
                </a:solidFill>
              </a:rPr>
              <a:t>• Zero-Shell Policy Gate: </a:t>
            </a:r>
            <a:r>
              <a:rPr sz="950">
                <a:solidFill>
                  <a:srgbClr val="E2E8F0"/>
                </a:solidFill>
              </a:rPr>
              <a:t>Enforces strict allowlist; high-risk targets pause for human review.</a:t>
            </a:r>
          </a:p>
          <a:p>
            <a:pPr>
              <a:spcBef>
                <a:spcPts val="300"/>
              </a:spcBef>
            </a:pPr>
            <a:r>
              <a:rPr b="1" sz="950">
                <a:solidFill>
                  <a:srgbClr val="F8FAFC"/>
                </a:solidFill>
              </a:rPr>
              <a:t>• Automated Remediation: </a:t>
            </a:r>
            <a:r>
              <a:rPr sz="950">
                <a:solidFill>
                  <a:srgbClr val="E2E8F0"/>
                </a:solidFill>
              </a:rPr>
              <a:t>Executes safe Docker restart or pod scale via API (no bash).</a:t>
            </a:r>
          </a:p>
          <a:p>
            <a:pPr>
              <a:spcBef>
                <a:spcPts val="300"/>
              </a:spcBef>
            </a:pPr>
            <a:r>
              <a:rPr b="1" sz="950">
                <a:solidFill>
                  <a:srgbClr val="F8FAFC"/>
                </a:solidFill>
              </a:rPr>
              <a:t>• Ultra-Low MTTR: </a:t>
            </a:r>
            <a:r>
              <a:rPr sz="950">
                <a:solidFill>
                  <a:srgbClr val="E2E8F0"/>
                </a:solidFill>
              </a:rPr>
              <a:t>Complete closed-loop detection, fix, and verification in &lt;15 SECONDS.</a:t>
            </a:r>
          </a:p>
        </p:txBody>
      </p:sp>
      <p:sp>
        <p:nvSpPr>
          <p:cNvPr id="8" name="Rounded Rectangle 7"/>
          <p:cNvSpPr/>
          <p:nvPr/>
        </p:nvSpPr>
        <p:spPr>
          <a:xfrm>
            <a:off x="731520" y="5029200"/>
            <a:ext cx="10698480" cy="1371600"/>
          </a:xfrm>
          <a:prstGeom prst="roundRect">
            <a:avLst/>
          </a:prstGeom>
          <a:solidFill>
            <a:srgbClr val="182235"/>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38BDF8"/>
                </a:solidFill>
              </a:defRPr>
            </a:pPr>
            <a:r>
              <a:t>💡 RELATABLE REAL-WORLD ANALOGY: THE INTELLIGENT ICU HOSPITAL MONITOR</a:t>
            </a:r>
          </a:p>
          <a:p>
            <a:pPr>
              <a:spcBef>
                <a:spcPts val="400"/>
              </a:spcBef>
              <a:defRPr sz="1000">
                <a:solidFill>
                  <a:srgbClr val="E2E8F0"/>
                </a:solidFill>
              </a:defRPr>
            </a:pPr>
            <a:r>
              <a:t>Imagine an intensive care unit (ICU) hospital patient. If their heart rhythm crashes at 3 AM, waiting 45 minutes for a nurse to wake up a doctor to look up pharmacology books could be fatal. AutoSRE acts as an intelligent ICU life-support monitor: it continuously senses vitals (metrics), diagnoses the arrhythmia (Gemini RCA), verifies dosage safety rules (Zero-Shell Policy Gate), and delivers the corrective medication in 10 seconds!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38BDF8"/>
                </a:solidFill>
                <a:latin typeface="Segoe UI"/>
              </a:defRPr>
            </a:pPr>
            <a:r>
              <a:t>2. FOUNDATIONS OF SOFTWARE ARCHITECTURE</a:t>
            </a:r>
          </a:p>
        </p:txBody>
      </p:sp>
      <p:sp>
        <p:nvSpPr>
          <p:cNvPr id="4" name="TextBox 3"/>
          <p:cNvSpPr txBox="1"/>
          <p:nvPr/>
        </p:nvSpPr>
        <p:spPr>
          <a:xfrm>
            <a:off x="731520" y="731520"/>
            <a:ext cx="10698480" cy="548640"/>
          </a:xfrm>
          <a:prstGeom prst="rect">
            <a:avLst/>
          </a:prstGeom>
          <a:noFill/>
        </p:spPr>
        <p:txBody>
          <a:bodyPr wrap="square" lIns="0" tIns="0" rIns="0" bIns="0">
            <a:spAutoFit/>
          </a:bodyPr>
          <a:lstStyle/>
          <a:p>
            <a:pPr>
              <a:defRPr sz="2200" b="1">
                <a:solidFill>
                  <a:srgbClr val="F8FAFC"/>
                </a:solidFill>
                <a:latin typeface="Segoe UI"/>
              </a:defRPr>
            </a:pPr>
            <a:r>
              <a:t>Why Do We Need Architecture? The Layered Architecture Primer</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pPr>
              <a:defRPr sz="1200">
                <a:solidFill>
                  <a:srgbClr val="94A3B8"/>
                </a:solidFill>
                <a:latin typeface="Segoe UI"/>
              </a:defRPr>
            </a:pPr>
            <a:r>
              <a:t>Contrasting the Spaghetti Monolith anti-pattern against rigorous Separation of Concerns (SoC)</a:t>
            </a:r>
          </a:p>
        </p:txBody>
      </p:sp>
      <p:sp>
        <p:nvSpPr>
          <p:cNvPr id="6" name="Rounded Rectangle 5"/>
          <p:cNvSpPr/>
          <p:nvPr/>
        </p:nvSpPr>
        <p:spPr>
          <a:xfrm>
            <a:off x="731520" y="1737360"/>
            <a:ext cx="5212080" cy="310896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50">
                <a:solidFill>
                  <a:srgbClr val="FBBF24"/>
                </a:solidFill>
              </a:defRPr>
            </a:pPr>
            <a:r>
              <a:t>⚠️ THE ANTI-PATTERN: SPAGHETTI MONOLITH ('BIG BALL OF MUD')</a:t>
            </a:r>
          </a:p>
          <a:p>
            <a:pPr>
              <a:spcBef>
                <a:spcPts val="300"/>
              </a:spcBef>
            </a:pPr>
            <a:r>
              <a:rPr b="1" sz="950">
                <a:solidFill>
                  <a:srgbClr val="F8FAFC"/>
                </a:solidFill>
              </a:rPr>
              <a:t>• No Architectural Boundaries: </a:t>
            </a:r>
            <a:r>
              <a:rPr sz="950">
                <a:solidFill>
                  <a:srgbClr val="E2E8F0"/>
                </a:solidFill>
              </a:rPr>
              <a:t>UI buttons directly trigger database queries and execute raw shell scripts.</a:t>
            </a:r>
          </a:p>
          <a:p>
            <a:pPr>
              <a:spcBef>
                <a:spcPts val="300"/>
              </a:spcBef>
            </a:pPr>
            <a:r>
              <a:rPr b="1" sz="950">
                <a:solidFill>
                  <a:srgbClr val="F8FAFC"/>
                </a:solidFill>
              </a:rPr>
              <a:t>• Tight Coupling: </a:t>
            </a:r>
            <a:r>
              <a:rPr sz="950">
                <a:solidFill>
                  <a:srgbClr val="E2E8F0"/>
                </a:solidFill>
              </a:rPr>
              <a:t>A minor bug in a frontend CSS or button handler can crash the database or wipe disk files.</a:t>
            </a:r>
          </a:p>
          <a:p>
            <a:pPr>
              <a:spcBef>
                <a:spcPts val="300"/>
              </a:spcBef>
            </a:pPr>
            <a:r>
              <a:rPr b="1" sz="950">
                <a:solidFill>
                  <a:srgbClr val="F8FAFC"/>
                </a:solidFill>
              </a:rPr>
              <a:t>• Zero Testability: </a:t>
            </a:r>
            <a:r>
              <a:rPr sz="950">
                <a:solidFill>
                  <a:srgbClr val="E2E8F0"/>
                </a:solidFill>
              </a:rPr>
              <a:t>Impossible to write isolated unit tests; every test requires the entire monolith to be running.</a:t>
            </a:r>
          </a:p>
          <a:p>
            <a:pPr>
              <a:spcBef>
                <a:spcPts val="300"/>
              </a:spcBef>
            </a:pPr>
            <a:r>
              <a:rPr b="1" sz="950">
                <a:solidFill>
                  <a:srgbClr val="F8FAFC"/>
                </a:solidFill>
              </a:rPr>
              <a:t>• Uncontained Blast Radius: </a:t>
            </a:r>
            <a:r>
              <a:rPr sz="950">
                <a:solidFill>
                  <a:srgbClr val="E2E8F0"/>
                </a:solidFill>
              </a:rPr>
              <a:t>Failure in a non-critical component (notifications) brings down core payments.</a:t>
            </a:r>
          </a:p>
          <a:p>
            <a:pPr>
              <a:spcBef>
                <a:spcPts val="300"/>
              </a:spcBef>
            </a:pPr>
            <a:r>
              <a:rPr b="1" sz="950">
                <a:solidFill>
                  <a:srgbClr val="F8FAFC"/>
                </a:solidFill>
              </a:rPr>
              <a:t>• Unconstrained AI Risk: </a:t>
            </a:r>
            <a:r>
              <a:rPr sz="950">
                <a:solidFill>
                  <a:srgbClr val="E2E8F0"/>
                </a:solidFill>
              </a:rPr>
              <a:t>LLMs given raw shell access will eventually hallucinate destructive commands (rm -rf /).</a:t>
            </a:r>
          </a:p>
        </p:txBody>
      </p:sp>
      <p:sp>
        <p:nvSpPr>
          <p:cNvPr id="7" name="Rounded Rectangle 6"/>
          <p:cNvSpPr/>
          <p:nvPr/>
        </p:nvSpPr>
        <p:spPr>
          <a:xfrm>
            <a:off x="6217920" y="1737360"/>
            <a:ext cx="5212080" cy="310896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50">
                <a:solidFill>
                  <a:srgbClr val="38BDF8"/>
                </a:solidFill>
              </a:defRPr>
            </a:pPr>
            <a:r>
              <a:t>🛡️ THE ARCHITECTURAL SOLUTION: LAYERED ARCHITECTURE</a:t>
            </a:r>
          </a:p>
          <a:p>
            <a:pPr>
              <a:spcBef>
                <a:spcPts val="300"/>
              </a:spcBef>
            </a:pPr>
            <a:r>
              <a:rPr b="1" sz="950">
                <a:solidFill>
                  <a:srgbClr val="F8FAFC"/>
                </a:solidFill>
              </a:rPr>
              <a:t>• Separation of Concerns (SoC): </a:t>
            </a:r>
            <a:r>
              <a:rPr sz="950">
                <a:solidFill>
                  <a:srgbClr val="E2E8F0"/>
                </a:solidFill>
              </a:rPr>
              <a:t>System is partitioned into distinct horizontal layers with single responsibilities.</a:t>
            </a:r>
          </a:p>
          <a:p>
            <a:pPr>
              <a:spcBef>
                <a:spcPts val="300"/>
              </a:spcBef>
            </a:pPr>
            <a:r>
              <a:rPr b="1" sz="950">
                <a:solidFill>
                  <a:srgbClr val="F8FAFC"/>
                </a:solidFill>
              </a:rPr>
              <a:t>• Strict Inter-Tier Boundaries: </a:t>
            </a:r>
            <a:r>
              <a:rPr sz="950">
                <a:solidFill>
                  <a:srgbClr val="E2E8F0"/>
                </a:solidFill>
              </a:rPr>
              <a:t>Each layer only communicates with adjacent layers; UI never talks directly to DB.</a:t>
            </a:r>
          </a:p>
          <a:p>
            <a:pPr>
              <a:spcBef>
                <a:spcPts val="300"/>
              </a:spcBef>
            </a:pPr>
            <a:r>
              <a:rPr b="1" sz="950">
                <a:solidFill>
                  <a:srgbClr val="F8FAFC"/>
                </a:solidFill>
              </a:rPr>
              <a:t>• Independent Evolvability: </a:t>
            </a:r>
            <a:r>
              <a:rPr sz="950">
                <a:solidFill>
                  <a:srgbClr val="E2E8F0"/>
                </a:solidFill>
              </a:rPr>
              <a:t>Replace SQLite with PostgreSQL or switch Gemini to Claude without touching UI.</a:t>
            </a:r>
          </a:p>
          <a:p>
            <a:pPr>
              <a:spcBef>
                <a:spcPts val="300"/>
              </a:spcBef>
            </a:pPr>
            <a:r>
              <a:rPr b="1" sz="950">
                <a:solidFill>
                  <a:srgbClr val="F8FAFC"/>
                </a:solidFill>
              </a:rPr>
              <a:t>• Blast Radius Containment: </a:t>
            </a:r>
            <a:r>
              <a:rPr sz="950">
                <a:solidFill>
                  <a:srgbClr val="E2E8F0"/>
                </a:solidFill>
              </a:rPr>
              <a:t>If payment service leaks DB connections, the rest of the fleet stays operational.</a:t>
            </a:r>
          </a:p>
          <a:p>
            <a:pPr>
              <a:spcBef>
                <a:spcPts val="300"/>
              </a:spcBef>
            </a:pPr>
            <a:r>
              <a:rPr b="1" sz="950">
                <a:solidFill>
                  <a:srgbClr val="F8FAFC"/>
                </a:solidFill>
              </a:rPr>
              <a:t>• Security Policy Interception: </a:t>
            </a:r>
            <a:r>
              <a:rPr sz="950">
                <a:solidFill>
                  <a:srgbClr val="E2E8F0"/>
                </a:solidFill>
              </a:rPr>
              <a:t>AI outputs are treated as untrusted proposals; gatekeeper checks allowlists before execution.</a:t>
            </a:r>
          </a:p>
        </p:txBody>
      </p:sp>
      <p:sp>
        <p:nvSpPr>
          <p:cNvPr id="8" name="Rounded Rectangle 7"/>
          <p:cNvSpPr/>
          <p:nvPr/>
        </p:nvSpPr>
        <p:spPr>
          <a:xfrm>
            <a:off x="731520" y="5029200"/>
            <a:ext cx="10698480" cy="1371600"/>
          </a:xfrm>
          <a:prstGeom prst="roundRect">
            <a:avLst/>
          </a:prstGeom>
          <a:solidFill>
            <a:srgbClr val="182235"/>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A78BFA"/>
                </a:solidFill>
              </a:defRPr>
            </a:pPr>
            <a:r>
              <a:t>🍽️ THE RESTAURANT KITCHEN ANALOGY (EASY ARCHITECTURAL MAPPING)</a:t>
            </a:r>
          </a:p>
          <a:p>
            <a:pPr>
              <a:spcBef>
                <a:spcPts val="300"/>
              </a:spcBef>
              <a:defRPr sz="950">
                <a:solidFill>
                  <a:srgbClr val="E2E8F0"/>
                </a:solidFill>
              </a:defRPr>
            </a:pPr>
            <a:r>
              <a:t>• Customer (Presentation Tier): Sits at dining table; orders food. Never enters the kitchen or touches ingredients.</a:t>
            </a:r>
            <a:br/>
            <a:r>
              <a:t>• Waiter (API Gateway): Carries structured order ticket to kitchen; returns plated food to customer.</a:t>
            </a:r>
            <a:br/>
            <a:r>
              <a:t>• Chef (Cognitive AI Brain): Plans recipe and cooks the meal based on expert manuals (Runbook RAG).</a:t>
            </a:r>
            <a:br/>
            <a:r>
              <a:t>• Food Safety Inspector (Policy Gatekeeper): Checks that food adheres to health laws before leaving kitchen.</a:t>
            </a:r>
            <a:br/>
            <a:r>
              <a:t>• Pantry Refrigerator (Persistence Tier): Stores raw ingredients safely. If refrigerator brand changes, customers never know!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38BDF8"/>
                </a:solidFill>
                <a:latin typeface="Segoe UI"/>
              </a:defRPr>
            </a:pPr>
            <a:r>
              <a:t>3. MULTI-TIER ARCHITECTURE BLUEPRINT</a:t>
            </a:r>
          </a:p>
        </p:txBody>
      </p:sp>
      <p:sp>
        <p:nvSpPr>
          <p:cNvPr id="4" name="TextBox 3"/>
          <p:cNvSpPr txBox="1"/>
          <p:nvPr/>
        </p:nvSpPr>
        <p:spPr>
          <a:xfrm>
            <a:off x="731520" y="731520"/>
            <a:ext cx="10698480" cy="548640"/>
          </a:xfrm>
          <a:prstGeom prst="rect">
            <a:avLst/>
          </a:prstGeom>
          <a:noFill/>
        </p:spPr>
        <p:txBody>
          <a:bodyPr wrap="square" lIns="0" tIns="0" rIns="0" bIns="0">
            <a:spAutoFit/>
          </a:bodyPr>
          <a:lstStyle/>
          <a:p>
            <a:pPr>
              <a:defRPr sz="2200" b="1">
                <a:solidFill>
                  <a:srgbClr val="F8FAFC"/>
                </a:solidFill>
                <a:latin typeface="Segoe UI"/>
              </a:defRPr>
            </a:pPr>
            <a:r>
              <a:t>The 5 Architectural Tiers of AutoSRE</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pPr>
              <a:defRPr sz="1200">
                <a:solidFill>
                  <a:srgbClr val="94A3B8"/>
                </a:solidFill>
                <a:latin typeface="Segoe UI"/>
              </a:defRPr>
            </a:pPr>
            <a:r>
              <a:t>Strict hierarchical layering from client browser to monitored container infrastructure</a:t>
            </a:r>
          </a:p>
        </p:txBody>
      </p:sp>
      <p:sp>
        <p:nvSpPr>
          <p:cNvPr id="6" name="Rounded Rectangle 5"/>
          <p:cNvSpPr/>
          <p:nvPr/>
        </p:nvSpPr>
        <p:spPr>
          <a:xfrm>
            <a:off x="731520" y="1691640"/>
            <a:ext cx="10698480" cy="86868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73152" lIns="137160"/>
          <a:lstStyle/>
          <a:p>
            <a:pPr algn="ctr">
              <a:defRPr b="1" sz="1050">
                <a:solidFill>
                  <a:srgbClr val="38BDF8"/>
                </a:solidFill>
              </a:defRPr>
            </a:pPr>
            <a:r>
              <a:t>TIER 1: PRESENTATION TIER (OPERATIONAL COCKPIT)</a:t>
            </a:r>
          </a:p>
          <a:p>
            <a:pPr>
              <a:spcBef>
                <a:spcPts val="200"/>
              </a:spcBef>
              <a:defRPr sz="850">
                <a:solidFill>
                  <a:srgbClr val="E2E8F0"/>
                </a:solidFill>
              </a:defRPr>
            </a:pPr>
            <a:r>
              <a:t>Executive Glassmorphic UI (HTML5, Vanilla CSS3, ES6 JavaScript, SVG Dynamic Topology Mesh)</a:t>
            </a:r>
            <a:br/>
            <a:r>
              <a:t>• Live node health indicators, real-time alert war room, dynamic endpoint discovery modal</a:t>
            </a:r>
            <a:br/>
            <a:r>
              <a:t>• Zero framework build overhead; sub-millisecond reactive DOM updates via Server-Sent Events</a:t>
            </a:r>
          </a:p>
        </p:txBody>
      </p:sp>
      <p:sp>
        <p:nvSpPr>
          <p:cNvPr id="7" name="Rounded Rectangle 6"/>
          <p:cNvSpPr/>
          <p:nvPr/>
        </p:nvSpPr>
        <p:spPr>
          <a:xfrm>
            <a:off x="731520" y="2697480"/>
            <a:ext cx="10698480" cy="86868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tIns="73152" lIns="137160"/>
          <a:lstStyle/>
          <a:p>
            <a:pPr algn="ctr">
              <a:defRPr b="1" sz="1050">
                <a:solidFill>
                  <a:srgbClr val="3B82F6"/>
                </a:solidFill>
              </a:defRPr>
            </a:pPr>
            <a:r>
              <a:t>TIER 2: API GATEWAY &amp; ORCHESTRATION TIER</a:t>
            </a:r>
          </a:p>
          <a:p>
            <a:pPr>
              <a:spcBef>
                <a:spcPts val="200"/>
              </a:spcBef>
              <a:defRPr sz="850">
                <a:solidFill>
                  <a:srgbClr val="E2E8F0"/>
                </a:solidFill>
              </a:defRPr>
            </a:pPr>
            <a:r>
              <a:t>FastAPI ASGI Asynchronous Application Server (Python 3.12)</a:t>
            </a:r>
            <a:br/>
            <a:r>
              <a:t>• 17 validated REST API contracts with Pydantic v2 schemas; OpenAPI autogenerated documentation</a:t>
            </a:r>
            <a:br/>
            <a:r>
              <a:t>• CORS security headers, async non-blocking request routing, webhook ingestors for GitHub and Vercel</a:t>
            </a:r>
          </a:p>
        </p:txBody>
      </p:sp>
      <p:sp>
        <p:nvSpPr>
          <p:cNvPr id="8" name="Rounded Rectangle 7"/>
          <p:cNvSpPr/>
          <p:nvPr/>
        </p:nvSpPr>
        <p:spPr>
          <a:xfrm>
            <a:off x="731520" y="3703320"/>
            <a:ext cx="10698480" cy="868680"/>
          </a:xfrm>
          <a:prstGeom prst="roundRect">
            <a:avLst/>
          </a:prstGeom>
          <a:solidFill>
            <a:srgbClr val="1E293B"/>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tIns="73152" lIns="137160"/>
          <a:lstStyle/>
          <a:p>
            <a:pPr algn="ctr">
              <a:defRPr b="1" sz="1050">
                <a:solidFill>
                  <a:srgbClr val="A78BFA"/>
                </a:solidFill>
              </a:defRPr>
            </a:pPr>
            <a:r>
              <a:t>TIER 3: OBSERVABILITY &amp; COGNITIVE REASONING TIER</a:t>
            </a:r>
          </a:p>
          <a:p>
            <a:pPr>
              <a:spcBef>
                <a:spcPts val="200"/>
              </a:spcBef>
              <a:defRPr sz="850">
                <a:solidFill>
                  <a:srgbClr val="E2E8F0"/>
                </a:solidFill>
              </a:defRPr>
            </a:pPr>
            <a:r>
              <a:t>Prometheus Metric Scraper (:9090) + Drain Regex Parser + Isolation Forest Anomaly Detection (&lt;8ms)</a:t>
            </a:r>
            <a:br/>
            <a:r>
              <a:t>• 8-Node LangGraph State Machine orchestrating incident reflex arc; TF-IDF SRE Runbook RAG retriever</a:t>
            </a:r>
            <a:br/>
            <a:r>
              <a:t>• Google Gemini 3.5 Flash Lite cognitive reasoner generating structured JSON root-cause diagnosis</a:t>
            </a:r>
          </a:p>
        </p:txBody>
      </p:sp>
      <p:sp>
        <p:nvSpPr>
          <p:cNvPr id="9" name="Rounded Rectangle 8"/>
          <p:cNvSpPr/>
          <p:nvPr/>
        </p:nvSpPr>
        <p:spPr>
          <a:xfrm>
            <a:off x="731520" y="4709160"/>
            <a:ext cx="10698480" cy="86868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tIns="73152" lIns="137160"/>
          <a:lstStyle/>
          <a:p>
            <a:pPr algn="ctr">
              <a:defRPr b="1" sz="1050">
                <a:solidFill>
                  <a:srgbClr val="FBBF24"/>
                </a:solidFill>
              </a:defRPr>
            </a:pPr>
            <a:r>
              <a:t>TIER 4: SECURITY POLICY &amp; EXECUTION TIER</a:t>
            </a:r>
          </a:p>
          <a:p>
            <a:pPr>
              <a:spcBef>
                <a:spcPts val="200"/>
              </a:spcBef>
              <a:defRPr sz="850">
                <a:solidFill>
                  <a:srgbClr val="E2E8F0"/>
                </a:solidFill>
              </a:defRPr>
            </a:pPr>
            <a:r>
              <a:t>Deterministic Zero-Shell Policy Gatekeeper (Action Allowlist: restart, scale, rollback, clear_cache)</a:t>
            </a:r>
            <a:br/>
            <a:r>
              <a:t>• Human-in-the-Loop authorization gate for high-blast-radius targets (`payment-service` / `production`)</a:t>
            </a:r>
            <a:br/>
            <a:r>
              <a:t>• Safe container tool execution via Docker SDK &amp; Kubernetes APIs; automated HTTP /health verification loop</a:t>
            </a:r>
          </a:p>
        </p:txBody>
      </p:sp>
      <p:sp>
        <p:nvSpPr>
          <p:cNvPr id="10" name="Rounded Rectangle 9"/>
          <p:cNvSpPr/>
          <p:nvPr/>
        </p:nvSpPr>
        <p:spPr>
          <a:xfrm>
            <a:off x="731520" y="5715000"/>
            <a:ext cx="10698480" cy="868680"/>
          </a:xfrm>
          <a:prstGeom prst="round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tIns="73152" lIns="137160"/>
          <a:lstStyle/>
          <a:p>
            <a:pPr algn="ctr">
              <a:defRPr b="1" sz="1050">
                <a:solidFill>
                  <a:srgbClr val="34D399"/>
                </a:solidFill>
              </a:defRPr>
            </a:pPr>
            <a:r>
              <a:t>TIER 5: PERSISTENCE &amp; INFRASTRUCTURE TIER</a:t>
            </a:r>
          </a:p>
          <a:p>
            <a:pPr>
              <a:spcBef>
                <a:spcPts val="200"/>
              </a:spcBef>
              <a:defRPr sz="850">
                <a:solidFill>
                  <a:srgbClr val="E2E8F0"/>
                </a:solidFill>
              </a:defRPr>
            </a:pPr>
            <a:r>
              <a:t>SQLite 3 with Write-Ahead Logging (WAL Mode) + SQLAlchemy 2.0 ORM Engine</a:t>
            </a:r>
            <a:br/>
            <a:r>
              <a:t>• Immutable Audit Ledger (`audit_ledger`), Incident History (`incidents`), Target Connectors (`system_connectors`)</a:t>
            </a:r>
            <a:br/>
            <a:r>
              <a:t>• Monitored Fleet: user-service (:8001), payment (:8002), order (:8003), notif (:8004), Bella Vista Cafe (:8010)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38BDF8"/>
                </a:solidFill>
                <a:latin typeface="Segoe UI"/>
              </a:defRPr>
            </a:pPr>
            <a:r>
              <a:t>4. ARCHITECTURAL STYLES &amp; DESIGN PATTERNS</a:t>
            </a:r>
          </a:p>
        </p:txBody>
      </p:sp>
      <p:sp>
        <p:nvSpPr>
          <p:cNvPr id="4" name="TextBox 3"/>
          <p:cNvSpPr txBox="1"/>
          <p:nvPr/>
        </p:nvSpPr>
        <p:spPr>
          <a:xfrm>
            <a:off x="731520" y="731520"/>
            <a:ext cx="10698480" cy="548640"/>
          </a:xfrm>
          <a:prstGeom prst="rect">
            <a:avLst/>
          </a:prstGeom>
          <a:noFill/>
        </p:spPr>
        <p:txBody>
          <a:bodyPr wrap="square" lIns="0" tIns="0" rIns="0" bIns="0">
            <a:spAutoFit/>
          </a:bodyPr>
          <a:lstStyle/>
          <a:p>
            <a:pPr>
              <a:defRPr sz="2200" b="1">
                <a:solidFill>
                  <a:srgbClr val="F8FAFC"/>
                </a:solidFill>
                <a:latin typeface="Segoe UI"/>
              </a:defRPr>
            </a:pPr>
            <a:r>
              <a:t>Design Patterns Applied Across the AutoSRE Ecosystem</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pPr>
              <a:defRPr sz="1200">
                <a:solidFill>
                  <a:srgbClr val="94A3B8"/>
                </a:solidFill>
                <a:latin typeface="Segoe UI"/>
              </a:defRPr>
            </a:pPr>
            <a:r>
              <a:t>How proven software engineering patterns guarantee predictability, safety, and performance</a:t>
            </a:r>
          </a:p>
        </p:txBody>
      </p:sp>
      <p:sp>
        <p:nvSpPr>
          <p:cNvPr id="6" name="Rounded Rectangle 5"/>
          <p:cNvSpPr/>
          <p:nvPr/>
        </p:nvSpPr>
        <p:spPr>
          <a:xfrm>
            <a:off x="731520" y="1828800"/>
            <a:ext cx="2542032" cy="21488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1000">
                <a:solidFill>
                  <a:srgbClr val="38BDF8"/>
                </a:solidFill>
              </a:defRPr>
            </a:pPr>
            <a:r>
              <a:t>LAYERED / MULTI-TIER</a:t>
            </a:r>
          </a:p>
          <a:p>
            <a:pPr>
              <a:spcBef>
                <a:spcPts val="300"/>
              </a:spcBef>
            </a:pPr>
            <a:r>
              <a:rPr b="1" sz="800">
                <a:solidFill>
                  <a:srgbClr val="F8FAFC"/>
                </a:solidFill>
              </a:rPr>
              <a:t>Implemented in: </a:t>
            </a:r>
            <a:r>
              <a:rPr sz="800">
                <a:solidFill>
                  <a:srgbClr val="38BDF8"/>
                </a:solidFill>
              </a:rPr>
              <a:t>5-tier separation (UI, API, AI, Policy, DB)</a:t>
            </a:r>
          </a:p>
          <a:p>
            <a:pPr>
              <a:spcBef>
                <a:spcPts val="300"/>
              </a:spcBef>
            </a:pPr>
            <a:r>
              <a:rPr b="1" sz="800">
                <a:solidFill>
                  <a:srgbClr val="F8FAFC"/>
                </a:solidFill>
              </a:rPr>
              <a:t>Why Needed: </a:t>
            </a:r>
            <a:r>
              <a:rPr sz="800">
                <a:solidFill>
                  <a:srgbClr val="E2E8F0"/>
                </a:solidFill>
              </a:rPr>
              <a:t>Separation of Concerns: Allows independent upgrades of UI, database, or ML models without cascade breaks.</a:t>
            </a:r>
          </a:p>
        </p:txBody>
      </p:sp>
      <p:sp>
        <p:nvSpPr>
          <p:cNvPr id="7" name="Rounded Rectangle 6"/>
          <p:cNvSpPr/>
          <p:nvPr/>
        </p:nvSpPr>
        <p:spPr>
          <a:xfrm>
            <a:off x="3456432" y="1828800"/>
            <a:ext cx="2542032" cy="21488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1000">
                <a:solidFill>
                  <a:srgbClr val="3B82F6"/>
                </a:solidFill>
              </a:defRPr>
            </a:pPr>
            <a:r>
              <a:t>MICROSERVICES</a:t>
            </a:r>
          </a:p>
          <a:p>
            <a:pPr>
              <a:spcBef>
                <a:spcPts val="300"/>
              </a:spcBef>
            </a:pPr>
            <a:r>
              <a:rPr b="1" sz="800">
                <a:solidFill>
                  <a:srgbClr val="F8FAFC"/>
                </a:solidFill>
              </a:rPr>
              <a:t>Implemented in: </a:t>
            </a:r>
            <a:r>
              <a:rPr sz="800">
                <a:solidFill>
                  <a:srgbClr val="38BDF8"/>
                </a:solidFill>
              </a:rPr>
              <a:t>Fleet: user, payment, order, notif, cafe</a:t>
            </a:r>
          </a:p>
          <a:p>
            <a:pPr>
              <a:spcBef>
                <a:spcPts val="300"/>
              </a:spcBef>
            </a:pPr>
            <a:r>
              <a:rPr b="1" sz="800">
                <a:solidFill>
                  <a:srgbClr val="F8FAFC"/>
                </a:solidFill>
              </a:rPr>
              <a:t>Why Needed: </a:t>
            </a:r>
            <a:r>
              <a:rPr sz="800">
                <a:solidFill>
                  <a:srgbClr val="E2E8F0"/>
                </a:solidFill>
              </a:rPr>
              <a:t>Blast Radius Containment: A connection pool leak in payment-service cannot take down user authentication.</a:t>
            </a:r>
          </a:p>
        </p:txBody>
      </p:sp>
      <p:sp>
        <p:nvSpPr>
          <p:cNvPr id="8" name="Rounded Rectangle 7"/>
          <p:cNvSpPr/>
          <p:nvPr/>
        </p:nvSpPr>
        <p:spPr>
          <a:xfrm>
            <a:off x="6172200" y="1828800"/>
            <a:ext cx="2542032" cy="2148840"/>
          </a:xfrm>
          <a:prstGeom prst="roundRect">
            <a:avLst/>
          </a:prstGeom>
          <a:solidFill>
            <a:srgbClr val="1E293B"/>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1000">
                <a:solidFill>
                  <a:srgbClr val="A78BFA"/>
                </a:solidFill>
              </a:defRPr>
            </a:pPr>
            <a:r>
              <a:t>FINITE STATE MACHINE</a:t>
            </a:r>
          </a:p>
          <a:p>
            <a:pPr>
              <a:spcBef>
                <a:spcPts val="300"/>
              </a:spcBef>
            </a:pPr>
            <a:r>
              <a:rPr b="1" sz="800">
                <a:solidFill>
                  <a:srgbClr val="F8FAFC"/>
                </a:solidFill>
              </a:rPr>
              <a:t>Implemented in: </a:t>
            </a:r>
            <a:r>
              <a:rPr sz="800">
                <a:solidFill>
                  <a:srgbClr val="38BDF8"/>
                </a:solidFill>
              </a:rPr>
              <a:t>LangGraph 8-Node Agent (src/agent/graph.py)</a:t>
            </a:r>
          </a:p>
          <a:p>
            <a:pPr>
              <a:spcBef>
                <a:spcPts val="300"/>
              </a:spcBef>
            </a:pPr>
            <a:r>
              <a:rPr b="1" sz="800">
                <a:solidFill>
                  <a:srgbClr val="F8FAFC"/>
                </a:solidFill>
              </a:rPr>
              <a:t>Why Needed: </a:t>
            </a:r>
            <a:r>
              <a:rPr sz="800">
                <a:solidFill>
                  <a:srgbClr val="E2E8F0"/>
                </a:solidFill>
              </a:rPr>
              <a:t>Predictability: Agent moves strictly through audited states; guarantees no infinite AI loops or stalls.</a:t>
            </a:r>
          </a:p>
        </p:txBody>
      </p:sp>
      <p:sp>
        <p:nvSpPr>
          <p:cNvPr id="9" name="Rounded Rectangle 8"/>
          <p:cNvSpPr/>
          <p:nvPr/>
        </p:nvSpPr>
        <p:spPr>
          <a:xfrm>
            <a:off x="8887968" y="1828800"/>
            <a:ext cx="2542032" cy="2148840"/>
          </a:xfrm>
          <a:prstGeom prst="round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1000">
                <a:solidFill>
                  <a:srgbClr val="34D399"/>
                </a:solidFill>
              </a:defRPr>
            </a:pPr>
            <a:r>
              <a:t>OBSERVER PATTERN</a:t>
            </a:r>
          </a:p>
          <a:p>
            <a:pPr>
              <a:spcBef>
                <a:spcPts val="300"/>
              </a:spcBef>
            </a:pPr>
            <a:r>
              <a:rPr b="1" sz="800">
                <a:solidFill>
                  <a:srgbClr val="F8FAFC"/>
                </a:solidFill>
              </a:rPr>
              <a:t>Implemented in: </a:t>
            </a:r>
            <a:r>
              <a:rPr sz="800">
                <a:solidFill>
                  <a:srgbClr val="38BDF8"/>
                </a:solidFill>
              </a:rPr>
              <a:t>Prometheus Telemetry Scraper (:9090)</a:t>
            </a:r>
          </a:p>
          <a:p>
            <a:pPr>
              <a:spcBef>
                <a:spcPts val="300"/>
              </a:spcBef>
            </a:pPr>
            <a:r>
              <a:rPr b="1" sz="800">
                <a:solidFill>
                  <a:srgbClr val="F8FAFC"/>
                </a:solidFill>
              </a:rPr>
              <a:t>Why Needed: </a:t>
            </a:r>
            <a:r>
              <a:rPr sz="800">
                <a:solidFill>
                  <a:srgbClr val="E2E8F0"/>
                </a:solidFill>
              </a:rPr>
              <a:t>Loose Coupling: Control plane observes microservice health without modifying target source code.</a:t>
            </a:r>
          </a:p>
        </p:txBody>
      </p:sp>
      <p:sp>
        <p:nvSpPr>
          <p:cNvPr id="10" name="Rounded Rectangle 9"/>
          <p:cNvSpPr/>
          <p:nvPr/>
        </p:nvSpPr>
        <p:spPr>
          <a:xfrm>
            <a:off x="731520" y="4251960"/>
            <a:ext cx="2542032" cy="21488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1000">
                <a:solidFill>
                  <a:srgbClr val="38BDF8"/>
                </a:solidFill>
              </a:defRPr>
            </a:pPr>
            <a:r>
              <a:t>FACADE / API GATEWAY</a:t>
            </a:r>
          </a:p>
          <a:p>
            <a:pPr>
              <a:spcBef>
                <a:spcPts val="300"/>
              </a:spcBef>
            </a:pPr>
            <a:r>
              <a:rPr b="1" sz="800">
                <a:solidFill>
                  <a:srgbClr val="F8FAFC"/>
                </a:solidFill>
              </a:rPr>
              <a:t>Implemented in: </a:t>
            </a:r>
            <a:r>
              <a:rPr sz="800">
                <a:solidFill>
                  <a:srgbClr val="38BDF8"/>
                </a:solidFill>
              </a:rPr>
              <a:t>FastAPI Control Plane (src/backend/app.py)</a:t>
            </a:r>
          </a:p>
          <a:p>
            <a:pPr>
              <a:spcBef>
                <a:spcPts val="300"/>
              </a:spcBef>
            </a:pPr>
            <a:r>
              <a:rPr b="1" sz="800">
                <a:solidFill>
                  <a:srgbClr val="F8FAFC"/>
                </a:solidFill>
              </a:rPr>
              <a:t>Why Needed: </a:t>
            </a:r>
            <a:r>
              <a:rPr sz="800">
                <a:solidFill>
                  <a:srgbClr val="E2E8F0"/>
                </a:solidFill>
              </a:rPr>
              <a:t>Unified Interface: Clients and dashboards interact with one unified API rather than juggling 10 services.</a:t>
            </a:r>
          </a:p>
        </p:txBody>
      </p:sp>
      <p:sp>
        <p:nvSpPr>
          <p:cNvPr id="11" name="Rounded Rectangle 10"/>
          <p:cNvSpPr/>
          <p:nvPr/>
        </p:nvSpPr>
        <p:spPr>
          <a:xfrm>
            <a:off x="3456432" y="4251960"/>
            <a:ext cx="2542032" cy="214884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1000">
                <a:solidFill>
                  <a:srgbClr val="FBBF24"/>
                </a:solidFill>
              </a:defRPr>
            </a:pPr>
            <a:r>
              <a:t>GATEKEEPER / INTERCEPTOR</a:t>
            </a:r>
          </a:p>
          <a:p>
            <a:pPr>
              <a:spcBef>
                <a:spcPts val="300"/>
              </a:spcBef>
            </a:pPr>
            <a:r>
              <a:rPr b="1" sz="800">
                <a:solidFill>
                  <a:srgbClr val="F8FAFC"/>
                </a:solidFill>
              </a:rPr>
              <a:t>Implemented in: </a:t>
            </a:r>
            <a:r>
              <a:rPr sz="800">
                <a:solidFill>
                  <a:srgbClr val="38BDF8"/>
                </a:solidFill>
              </a:rPr>
              <a:t>Zero-Shell Policy Gate (src/agent/policies.py)</a:t>
            </a:r>
          </a:p>
          <a:p>
            <a:pPr>
              <a:spcBef>
                <a:spcPts val="300"/>
              </a:spcBef>
            </a:pPr>
            <a:r>
              <a:rPr b="1" sz="800">
                <a:solidFill>
                  <a:srgbClr val="F8FAFC"/>
                </a:solidFill>
              </a:rPr>
              <a:t>Why Needed: </a:t>
            </a:r>
            <a:r>
              <a:rPr sz="800">
                <a:solidFill>
                  <a:srgbClr val="E2E8F0"/>
                </a:solidFill>
              </a:rPr>
              <a:t>Security Barrier: Intercepts all AI outputs before execution; validates against strict action allowlist.</a:t>
            </a:r>
          </a:p>
        </p:txBody>
      </p:sp>
      <p:sp>
        <p:nvSpPr>
          <p:cNvPr id="12" name="Rounded Rectangle 11"/>
          <p:cNvSpPr/>
          <p:nvPr/>
        </p:nvSpPr>
        <p:spPr>
          <a:xfrm>
            <a:off x="6172200" y="4251960"/>
            <a:ext cx="2542032" cy="2148840"/>
          </a:xfrm>
          <a:prstGeom prst="roundRect">
            <a:avLst/>
          </a:prstGeom>
          <a:solidFill>
            <a:srgbClr val="1E293B"/>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1000">
                <a:solidFill>
                  <a:srgbClr val="A78BFA"/>
                </a:solidFill>
              </a:defRPr>
            </a:pPr>
            <a:r>
              <a:t>STRATEGY PATTERN</a:t>
            </a:r>
          </a:p>
          <a:p>
            <a:pPr>
              <a:spcBef>
                <a:spcPts val="300"/>
              </a:spcBef>
            </a:pPr>
            <a:r>
              <a:rPr b="1" sz="800">
                <a:solidFill>
                  <a:srgbClr val="F8FAFC"/>
                </a:solidFill>
              </a:rPr>
              <a:t>Implemented in: </a:t>
            </a:r>
            <a:r>
              <a:rPr sz="800">
                <a:solidFill>
                  <a:srgbClr val="38BDF8"/>
                </a:solidFill>
              </a:rPr>
              <a:t>Dual-Mode Reasoner (Gemini vs. Fallback)</a:t>
            </a:r>
          </a:p>
          <a:p>
            <a:pPr>
              <a:spcBef>
                <a:spcPts val="300"/>
              </a:spcBef>
            </a:pPr>
            <a:r>
              <a:rPr b="1" sz="800">
                <a:solidFill>
                  <a:srgbClr val="F8FAFC"/>
                </a:solidFill>
              </a:rPr>
              <a:t>Why Needed: </a:t>
            </a:r>
            <a:r>
              <a:rPr sz="800">
                <a:solidFill>
                  <a:srgbClr val="E2E8F0"/>
                </a:solidFill>
              </a:rPr>
              <a:t>High Availability: Uses Gemini 3.5 Lite when online; instantly switches to heuristic rules if API quota limits hit.</a:t>
            </a:r>
          </a:p>
        </p:txBody>
      </p:sp>
      <p:sp>
        <p:nvSpPr>
          <p:cNvPr id="13" name="Rounded Rectangle 12"/>
          <p:cNvSpPr/>
          <p:nvPr/>
        </p:nvSpPr>
        <p:spPr>
          <a:xfrm>
            <a:off x="8887968" y="4251960"/>
            <a:ext cx="2542032" cy="2148840"/>
          </a:xfrm>
          <a:prstGeom prst="round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1000">
                <a:solidFill>
                  <a:srgbClr val="34D399"/>
                </a:solidFill>
              </a:defRPr>
            </a:pPr>
            <a:r>
              <a:t>RAG PATTERN</a:t>
            </a:r>
          </a:p>
          <a:p>
            <a:pPr>
              <a:spcBef>
                <a:spcPts val="300"/>
              </a:spcBef>
            </a:pPr>
            <a:r>
              <a:rPr b="1" sz="800">
                <a:solidFill>
                  <a:srgbClr val="F8FAFC"/>
                </a:solidFill>
              </a:rPr>
              <a:t>Implemented in: </a:t>
            </a:r>
            <a:r>
              <a:rPr sz="800">
                <a:solidFill>
                  <a:srgbClr val="38BDF8"/>
                </a:solidFill>
              </a:rPr>
              <a:t>Runbook Retriever (src/rag/retriever.py)</a:t>
            </a:r>
          </a:p>
          <a:p>
            <a:pPr>
              <a:spcBef>
                <a:spcPts val="300"/>
              </a:spcBef>
            </a:pPr>
            <a:r>
              <a:rPr b="1" sz="800">
                <a:solidFill>
                  <a:srgbClr val="F8FAFC"/>
                </a:solidFill>
              </a:rPr>
              <a:t>Why Needed: </a:t>
            </a:r>
            <a:r>
              <a:rPr sz="800">
                <a:solidFill>
                  <a:srgbClr val="E2E8F0"/>
                </a:solidFill>
              </a:rPr>
              <a:t>Grounded Truth: Feeds verified Markdown SRE manuals into Gemini context, eliminating hallucinations.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38BDF8"/>
                </a:solidFill>
                <a:latin typeface="Segoe UI"/>
              </a:defRPr>
            </a:pPr>
            <a:r>
              <a:t>5. COMPONENT &amp; CONNECTOR (C&amp;C) ARCHITECTURE</a:t>
            </a:r>
          </a:p>
        </p:txBody>
      </p:sp>
      <p:sp>
        <p:nvSpPr>
          <p:cNvPr id="4" name="TextBox 3"/>
          <p:cNvSpPr txBox="1"/>
          <p:nvPr/>
        </p:nvSpPr>
        <p:spPr>
          <a:xfrm>
            <a:off x="731520" y="731520"/>
            <a:ext cx="10698480" cy="548640"/>
          </a:xfrm>
          <a:prstGeom prst="rect">
            <a:avLst/>
          </a:prstGeom>
          <a:noFill/>
        </p:spPr>
        <p:txBody>
          <a:bodyPr wrap="square" lIns="0" tIns="0" rIns="0" bIns="0">
            <a:spAutoFit/>
          </a:bodyPr>
          <a:lstStyle/>
          <a:p>
            <a:pPr>
              <a:defRPr sz="2200" b="1">
                <a:solidFill>
                  <a:srgbClr val="F8FAFC"/>
                </a:solidFill>
                <a:latin typeface="Segoe UI"/>
              </a:defRPr>
            </a:pPr>
            <a:r>
              <a:t>Runtime Data Flow &amp; Inter-Component Communication</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pPr>
              <a:defRPr sz="1200">
                <a:solidFill>
                  <a:srgbClr val="94A3B8"/>
                </a:solidFill>
                <a:latin typeface="Segoe UI"/>
              </a:defRPr>
            </a:pPr>
            <a:r>
              <a:t>End-to-end data pipeline from telemetry scrape to verified remediation</a:t>
            </a:r>
          </a:p>
        </p:txBody>
      </p:sp>
      <p:sp>
        <p:nvSpPr>
          <p:cNvPr id="6" name="Rounded Rectangle 5"/>
          <p:cNvSpPr/>
          <p:nvPr/>
        </p:nvSpPr>
        <p:spPr>
          <a:xfrm>
            <a:off x="731520" y="1828800"/>
            <a:ext cx="2542032" cy="21488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1000">
                <a:solidFill>
                  <a:srgbClr val="38BDF8"/>
                </a:solidFill>
              </a:defRPr>
            </a:pPr>
            <a:r>
              <a:t>1. TELEMETRY SCRAPE</a:t>
            </a:r>
          </a:p>
          <a:p>
            <a:pPr>
              <a:spcBef>
                <a:spcPts val="200"/>
              </a:spcBef>
            </a:pPr>
            <a:r>
              <a:rPr b="1" sz="850">
                <a:solidFill>
                  <a:srgbClr val="F8FAFC"/>
                </a:solidFill>
              </a:rPr>
              <a:t>Prometheus Scraper &amp; Microservices Fleet</a:t>
            </a:r>
          </a:p>
          <a:p>
            <a:pPr>
              <a:spcBef>
                <a:spcPts val="300"/>
              </a:spcBef>
              <a:defRPr sz="800">
                <a:solidFill>
                  <a:srgbClr val="E2E8F0"/>
                </a:solidFill>
              </a:defRPr>
            </a:pPr>
            <a:r>
              <a:t>Microservices emit /metrics &amp; logs. Scraper samples CPU, memory, error rates, and thread counts.</a:t>
            </a:r>
          </a:p>
        </p:txBody>
      </p:sp>
      <p:sp>
        <p:nvSpPr>
          <p:cNvPr id="7" name="Rounded Rectangle 6"/>
          <p:cNvSpPr/>
          <p:nvPr/>
        </p:nvSpPr>
        <p:spPr>
          <a:xfrm>
            <a:off x="3456432" y="1828800"/>
            <a:ext cx="2542032" cy="21488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1000">
                <a:solidFill>
                  <a:srgbClr val="3B82F6"/>
                </a:solidFill>
              </a:defRPr>
            </a:pPr>
            <a:r>
              <a:t>2. LOG ANOMALY CHECK</a:t>
            </a:r>
          </a:p>
          <a:p>
            <a:pPr>
              <a:spcBef>
                <a:spcPts val="200"/>
              </a:spcBef>
            </a:pPr>
            <a:r>
              <a:rPr b="1" sz="850">
                <a:solidFill>
                  <a:srgbClr val="F8FAFC"/>
                </a:solidFill>
              </a:rPr>
              <a:t>Drain Regex Parser + Isolation Forest</a:t>
            </a:r>
          </a:p>
          <a:p>
            <a:pPr>
              <a:spcBef>
                <a:spcPts val="300"/>
              </a:spcBef>
              <a:defRPr sz="800">
                <a:solidFill>
                  <a:srgbClr val="E2E8F0"/>
                </a:solidFill>
              </a:defRPr>
            </a:pPr>
            <a:r>
              <a:t>Drain abstracts variables (&lt;IP&gt;, &lt;NUM&gt;). Isolation Forest scores template vectors in &lt;8ms.</a:t>
            </a:r>
          </a:p>
        </p:txBody>
      </p:sp>
      <p:sp>
        <p:nvSpPr>
          <p:cNvPr id="8" name="Rounded Rectangle 7"/>
          <p:cNvSpPr/>
          <p:nvPr/>
        </p:nvSpPr>
        <p:spPr>
          <a:xfrm>
            <a:off x="6172200" y="1828800"/>
            <a:ext cx="2542032" cy="2148840"/>
          </a:xfrm>
          <a:prstGeom prst="roundRect">
            <a:avLst/>
          </a:prstGeom>
          <a:solidFill>
            <a:srgbClr val="1E293B"/>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1000">
                <a:solidFill>
                  <a:srgbClr val="A78BFA"/>
                </a:solidFill>
              </a:defRPr>
            </a:pPr>
            <a:r>
              <a:t>3. SENSING ANOMALY</a:t>
            </a:r>
          </a:p>
          <a:p>
            <a:pPr>
              <a:spcBef>
                <a:spcPts val="200"/>
              </a:spcBef>
            </a:pPr>
            <a:r>
              <a:rPr b="1" sz="850">
                <a:solidFill>
                  <a:srgbClr val="F8FAFC"/>
                </a:solidFill>
              </a:rPr>
              <a:t>LangGraph Agent Triggered</a:t>
            </a:r>
          </a:p>
          <a:p>
            <a:pPr>
              <a:spcBef>
                <a:spcPts val="300"/>
              </a:spcBef>
              <a:defRPr sz="800">
                <a:solidFill>
                  <a:srgbClr val="E2E8F0"/>
                </a:solidFill>
              </a:defRPr>
            </a:pPr>
            <a:r>
              <a:t>If anomaly score &lt; -0.15 or 5xx spike occurs, an incident is registered and agent reflex kicks off.</a:t>
            </a:r>
          </a:p>
        </p:txBody>
      </p:sp>
      <p:sp>
        <p:nvSpPr>
          <p:cNvPr id="9" name="Rounded Rectangle 8"/>
          <p:cNvSpPr/>
          <p:nvPr/>
        </p:nvSpPr>
        <p:spPr>
          <a:xfrm>
            <a:off x="8887968" y="1828800"/>
            <a:ext cx="2542032" cy="2148840"/>
          </a:xfrm>
          <a:prstGeom prst="round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1000">
                <a:solidFill>
                  <a:srgbClr val="34D399"/>
                </a:solidFill>
              </a:defRPr>
            </a:pPr>
            <a:r>
              <a:t>4. RUNBOOK RAG MATCH</a:t>
            </a:r>
          </a:p>
          <a:p>
            <a:pPr>
              <a:spcBef>
                <a:spcPts val="200"/>
              </a:spcBef>
            </a:pPr>
            <a:r>
              <a:rPr b="1" sz="850">
                <a:solidFill>
                  <a:srgbClr val="F8FAFC"/>
                </a:solidFill>
              </a:rPr>
              <a:t>TF-IDF Vector Space Retriever</a:t>
            </a:r>
          </a:p>
          <a:p>
            <a:pPr>
              <a:spcBef>
                <a:spcPts val="300"/>
              </a:spcBef>
              <a:defRPr sz="800">
                <a:solidFill>
                  <a:srgbClr val="E2E8F0"/>
                </a:solidFill>
              </a:defRPr>
            </a:pPr>
            <a:r>
              <a:t>Retriever queries SRE Markdown guides (5 runbooks) and extracts matching resolution chunk.</a:t>
            </a:r>
          </a:p>
        </p:txBody>
      </p:sp>
      <p:sp>
        <p:nvSpPr>
          <p:cNvPr id="10" name="Rounded Rectangle 9"/>
          <p:cNvSpPr/>
          <p:nvPr/>
        </p:nvSpPr>
        <p:spPr>
          <a:xfrm>
            <a:off x="731520" y="4251960"/>
            <a:ext cx="2542032" cy="21488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1000">
                <a:solidFill>
                  <a:srgbClr val="38BDF8"/>
                </a:solidFill>
              </a:defRPr>
            </a:pPr>
            <a:r>
              <a:t>5. COGNITIVE AI RCA</a:t>
            </a:r>
          </a:p>
          <a:p>
            <a:pPr>
              <a:spcBef>
                <a:spcPts val="200"/>
              </a:spcBef>
            </a:pPr>
            <a:r>
              <a:rPr b="1" sz="850">
                <a:solidFill>
                  <a:srgbClr val="F8FAFC"/>
                </a:solidFill>
              </a:rPr>
              <a:t>Google Gemini 3.5 Flash Lite</a:t>
            </a:r>
          </a:p>
          <a:p>
            <a:pPr>
              <a:spcBef>
                <a:spcPts val="300"/>
              </a:spcBef>
              <a:defRPr sz="800">
                <a:solidFill>
                  <a:srgbClr val="E2E8F0"/>
                </a:solidFill>
              </a:defRPr>
            </a:pPr>
            <a:r>
              <a:t>LLM consumes metrics + anomaly logs + runbook chunk; generates structured JSON root-cause diagnosis.</a:t>
            </a:r>
          </a:p>
        </p:txBody>
      </p:sp>
      <p:sp>
        <p:nvSpPr>
          <p:cNvPr id="11" name="Rounded Rectangle 10"/>
          <p:cNvSpPr/>
          <p:nvPr/>
        </p:nvSpPr>
        <p:spPr>
          <a:xfrm>
            <a:off x="3456432" y="4251960"/>
            <a:ext cx="2542032" cy="214884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1000">
                <a:solidFill>
                  <a:srgbClr val="FBBF24"/>
                </a:solidFill>
              </a:defRPr>
            </a:pPr>
            <a:r>
              <a:t>6. POLICY GATEKEEPER</a:t>
            </a:r>
          </a:p>
          <a:p>
            <a:pPr>
              <a:spcBef>
                <a:spcPts val="200"/>
              </a:spcBef>
            </a:pPr>
            <a:r>
              <a:rPr b="1" sz="850">
                <a:solidFill>
                  <a:srgbClr val="F8FAFC"/>
                </a:solidFill>
              </a:rPr>
              <a:t>Zero-Shell Safety Allowlist</a:t>
            </a:r>
          </a:p>
          <a:p>
            <a:pPr>
              <a:spcBef>
                <a:spcPts val="300"/>
              </a:spcBef>
              <a:defRPr sz="800">
                <a:solidFill>
                  <a:srgbClr val="E2E8F0"/>
                </a:solidFill>
              </a:defRPr>
            </a:pPr>
            <a:r>
              <a:t>Gatekeeper verifies tool allowlist. If service is protected (payment), shifts to Human Approval.</a:t>
            </a:r>
          </a:p>
        </p:txBody>
      </p:sp>
      <p:sp>
        <p:nvSpPr>
          <p:cNvPr id="12" name="Rounded Rectangle 11"/>
          <p:cNvSpPr/>
          <p:nvPr/>
        </p:nvSpPr>
        <p:spPr>
          <a:xfrm>
            <a:off x="6172200" y="4251960"/>
            <a:ext cx="2542032" cy="2148840"/>
          </a:xfrm>
          <a:prstGeom prst="round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1000">
                <a:solidFill>
                  <a:srgbClr val="34D399"/>
                </a:solidFill>
              </a:defRPr>
            </a:pPr>
            <a:r>
              <a:t>7. SAFE TOOL EXECUTION</a:t>
            </a:r>
          </a:p>
          <a:p>
            <a:pPr>
              <a:spcBef>
                <a:spcPts val="200"/>
              </a:spcBef>
            </a:pPr>
            <a:r>
              <a:rPr b="1" sz="850">
                <a:solidFill>
                  <a:srgbClr val="F8FAFC"/>
                </a:solidFill>
              </a:rPr>
              <a:t>Docker SDK / Kubernetes API</a:t>
            </a:r>
          </a:p>
          <a:p>
            <a:pPr>
              <a:spcBef>
                <a:spcPts val="300"/>
              </a:spcBef>
              <a:defRPr sz="800">
                <a:solidFill>
                  <a:srgbClr val="E2E8F0"/>
                </a:solidFill>
              </a:defRPr>
            </a:pPr>
            <a:r>
              <a:t>Tool invoker triggers container restart or replica scaling without any interactive bash shell.</a:t>
            </a:r>
          </a:p>
        </p:txBody>
      </p:sp>
      <p:sp>
        <p:nvSpPr>
          <p:cNvPr id="13" name="Rounded Rectangle 12"/>
          <p:cNvSpPr/>
          <p:nvPr/>
        </p:nvSpPr>
        <p:spPr>
          <a:xfrm>
            <a:off x="8887968" y="4251960"/>
            <a:ext cx="2542032" cy="21488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1000">
                <a:solidFill>
                  <a:srgbClr val="3B82F6"/>
                </a:solidFill>
              </a:defRPr>
            </a:pPr>
            <a:r>
              <a:t>8. AUDIT LEDGER COMMIT</a:t>
            </a:r>
          </a:p>
          <a:p>
            <a:pPr>
              <a:spcBef>
                <a:spcPts val="200"/>
              </a:spcBef>
            </a:pPr>
            <a:r>
              <a:rPr b="1" sz="850">
                <a:solidFill>
                  <a:srgbClr val="F8FAFC"/>
                </a:solidFill>
              </a:rPr>
              <a:t>SQLite 3 WAL Database</a:t>
            </a:r>
          </a:p>
          <a:p>
            <a:pPr>
              <a:spcBef>
                <a:spcPts val="300"/>
              </a:spcBef>
              <a:defRPr sz="800">
                <a:solidFill>
                  <a:srgbClr val="E2E8F0"/>
                </a:solidFill>
              </a:defRPr>
            </a:pPr>
            <a:r>
              <a:t>Verification probe polls /health across 3 retries (200 OK); commits immutable audit log entry.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38BDF8"/>
                </a:solidFill>
                <a:latin typeface="Segoe UI"/>
              </a:defRPr>
            </a:pPr>
            <a:r>
              <a:t>6. BEHAVIORAL ARCHITECTURE &amp; STATE MACHINE</a:t>
            </a:r>
          </a:p>
        </p:txBody>
      </p:sp>
      <p:sp>
        <p:nvSpPr>
          <p:cNvPr id="4" name="TextBox 3"/>
          <p:cNvSpPr txBox="1"/>
          <p:nvPr/>
        </p:nvSpPr>
        <p:spPr>
          <a:xfrm>
            <a:off x="731520" y="731520"/>
            <a:ext cx="10698480" cy="548640"/>
          </a:xfrm>
          <a:prstGeom prst="rect">
            <a:avLst/>
          </a:prstGeom>
          <a:noFill/>
        </p:spPr>
        <p:txBody>
          <a:bodyPr wrap="square" lIns="0" tIns="0" rIns="0" bIns="0">
            <a:spAutoFit/>
          </a:bodyPr>
          <a:lstStyle/>
          <a:p>
            <a:pPr>
              <a:defRPr sz="2200" b="1">
                <a:solidFill>
                  <a:srgbClr val="F8FAFC"/>
                </a:solidFill>
                <a:latin typeface="Segoe UI"/>
              </a:defRPr>
            </a:pPr>
            <a:r>
              <a:t>The 8-Node LangGraph Autonomous Reflex Arc</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pPr>
              <a:defRPr sz="1200">
                <a:solidFill>
                  <a:srgbClr val="94A3B8"/>
                </a:solidFill>
                <a:latin typeface="Segoe UI"/>
              </a:defRPr>
            </a:pPr>
            <a:r>
              <a:t>Finite State Machine (FSM) ensuring deterministic, audited, and recoverable transitions</a:t>
            </a:r>
          </a:p>
        </p:txBody>
      </p:sp>
      <p:sp>
        <p:nvSpPr>
          <p:cNvPr id="6" name="Rounded Rectangle 5"/>
          <p:cNvSpPr/>
          <p:nvPr/>
        </p:nvSpPr>
        <p:spPr>
          <a:xfrm>
            <a:off x="731520" y="1737360"/>
            <a:ext cx="10698480" cy="1005840"/>
          </a:xfrm>
          <a:prstGeom prst="roundRect">
            <a:avLst/>
          </a:prstGeom>
          <a:solidFill>
            <a:srgbClr val="0F172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A78BFA"/>
                </a:solidFill>
              </a:defRPr>
            </a:pPr>
            <a:r>
              <a:t>FINITE STATE MACHINE TRANSITION PATHWAY:</a:t>
            </a:r>
          </a:p>
          <a:p>
            <a:pPr>
              <a:spcBef>
                <a:spcPts val="400"/>
              </a:spcBef>
              <a:defRPr b="1" sz="1100">
                <a:solidFill>
                  <a:srgbClr val="38BDF8"/>
                </a:solidFill>
              </a:defRPr>
            </a:pPr>
            <a:r>
              <a:t>[MONITORING] ➔ [ANALYZING (ML+RAG+LLM)] ➔ [GATEKEEPING] ➔ [PENDING_APPROVAL / EXECUTING] ➔ [VERIFYING] ➔ [RESOLVED]</a:t>
            </a:r>
          </a:p>
        </p:txBody>
      </p:sp>
      <p:sp>
        <p:nvSpPr>
          <p:cNvPr id="7" name="Rounded Rectangle 6"/>
          <p:cNvSpPr/>
          <p:nvPr/>
        </p:nvSpPr>
        <p:spPr>
          <a:xfrm>
            <a:off x="731520" y="2926080"/>
            <a:ext cx="2542032" cy="34747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1100">
                <a:solidFill>
                  <a:srgbClr val="38BDF8"/>
                </a:solidFill>
              </a:defRPr>
            </a:pPr>
            <a:r>
              <a:t>1. SENSE PHASE</a:t>
            </a:r>
          </a:p>
          <a:p>
            <a:pPr>
              <a:spcBef>
                <a:spcPts val="300"/>
              </a:spcBef>
              <a:defRPr b="1" sz="850">
                <a:solidFill>
                  <a:srgbClr val="F8FAFC"/>
                </a:solidFill>
              </a:defRPr>
            </a:pPr>
            <a:r>
              <a:t>Nodes: scrape_telemetry, detect_anomaly</a:t>
            </a:r>
          </a:p>
          <a:p>
            <a:pPr>
              <a:spcBef>
                <a:spcPts val="600"/>
              </a:spcBef>
              <a:defRPr sz="900">
                <a:solidFill>
                  <a:srgbClr val="E2E8F0"/>
                </a:solidFill>
              </a:defRPr>
            </a:pPr>
            <a:r>
              <a:t>• Pulls live Prometheus metrics</a:t>
            </a:r>
            <a:br/>
            <a:r>
              <a:t>• Drain regex masks dynamic tokens</a:t>
            </a:r>
            <a:br/>
            <a:r>
              <a:t>• Isolation Forest scores anomaly</a:t>
            </a:r>
            <a:br/>
            <a:r>
              <a:t>• Triggers incident if score &lt; -0.15</a:t>
            </a:r>
          </a:p>
        </p:txBody>
      </p:sp>
      <p:sp>
        <p:nvSpPr>
          <p:cNvPr id="8" name="Rounded Rectangle 7"/>
          <p:cNvSpPr/>
          <p:nvPr/>
        </p:nvSpPr>
        <p:spPr>
          <a:xfrm>
            <a:off x="3456432" y="2926080"/>
            <a:ext cx="2542032" cy="3474720"/>
          </a:xfrm>
          <a:prstGeom prst="roundRect">
            <a:avLst/>
          </a:prstGeom>
          <a:solidFill>
            <a:srgbClr val="1E293B"/>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1100">
                <a:solidFill>
                  <a:srgbClr val="A78BFA"/>
                </a:solidFill>
              </a:defRPr>
            </a:pPr>
            <a:r>
              <a:t>2. PLAN PHASE</a:t>
            </a:r>
          </a:p>
          <a:p>
            <a:pPr>
              <a:spcBef>
                <a:spcPts val="300"/>
              </a:spcBef>
              <a:defRPr b="1" sz="850">
                <a:solidFill>
                  <a:srgbClr val="F8FAFC"/>
                </a:solidFill>
              </a:defRPr>
            </a:pPr>
            <a:r>
              <a:t>Nodes: retrieve_runbook, llm_rca_reasoning</a:t>
            </a:r>
          </a:p>
          <a:p>
            <a:pPr>
              <a:spcBef>
                <a:spcPts val="600"/>
              </a:spcBef>
              <a:defRPr sz="900">
                <a:solidFill>
                  <a:srgbClr val="E2E8F0"/>
                </a:solidFill>
              </a:defRPr>
            </a:pPr>
            <a:r>
              <a:t>• TF-IDF cosine similarity search</a:t>
            </a:r>
            <a:br/>
            <a:r>
              <a:t>• Indexes 5 curated SRE runbooks</a:t>
            </a:r>
            <a:br/>
            <a:r>
              <a:t>• Google Gemini 3.5 Flash Lite RCA</a:t>
            </a:r>
            <a:br/>
            <a:r>
              <a:t>• Generates structured JSON diagnosis</a:t>
            </a:r>
          </a:p>
        </p:txBody>
      </p:sp>
      <p:sp>
        <p:nvSpPr>
          <p:cNvPr id="9" name="Rounded Rectangle 8"/>
          <p:cNvSpPr/>
          <p:nvPr/>
        </p:nvSpPr>
        <p:spPr>
          <a:xfrm>
            <a:off x="6172200" y="2926080"/>
            <a:ext cx="2542032" cy="347472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1100">
                <a:solidFill>
                  <a:srgbClr val="FBBF24"/>
                </a:solidFill>
              </a:defRPr>
            </a:pPr>
            <a:r>
              <a:t>3. GATEKEEP PHASE</a:t>
            </a:r>
          </a:p>
          <a:p>
            <a:pPr>
              <a:spcBef>
                <a:spcPts val="300"/>
              </a:spcBef>
              <a:defRPr b="1" sz="850">
                <a:solidFill>
                  <a:srgbClr val="F8FAFC"/>
                </a:solidFill>
              </a:defRPr>
            </a:pPr>
            <a:r>
              <a:t>Nodes: policy_gatekeeper</a:t>
            </a:r>
          </a:p>
          <a:p>
            <a:pPr>
              <a:spcBef>
                <a:spcPts val="600"/>
              </a:spcBef>
              <a:defRPr sz="900">
                <a:solidFill>
                  <a:srgbClr val="E2E8F0"/>
                </a:solidFill>
              </a:defRPr>
            </a:pPr>
            <a:r>
              <a:t>• Enforces strict 5-action allowlist</a:t>
            </a:r>
            <a:br/>
            <a:r>
              <a:t>• Blocks interactive bash/sh shells</a:t>
            </a:r>
            <a:br/>
            <a:r>
              <a:t>• If target is protected (payment):</a:t>
            </a:r>
            <a:br/>
            <a:r>
              <a:t>  pauses in PENDING_APPROVAL</a:t>
            </a:r>
            <a:br/>
            <a:r>
              <a:t>• Human SRE approves in War Room</a:t>
            </a:r>
          </a:p>
        </p:txBody>
      </p:sp>
      <p:sp>
        <p:nvSpPr>
          <p:cNvPr id="10" name="Rounded Rectangle 9"/>
          <p:cNvSpPr/>
          <p:nvPr/>
        </p:nvSpPr>
        <p:spPr>
          <a:xfrm>
            <a:off x="8887968" y="2926080"/>
            <a:ext cx="2542032" cy="3474720"/>
          </a:xfrm>
          <a:prstGeom prst="round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1100">
                <a:solidFill>
                  <a:srgbClr val="34D399"/>
                </a:solidFill>
              </a:defRPr>
            </a:pPr>
            <a:r>
              <a:t>4. ACT &amp; VERIFY PHASE</a:t>
            </a:r>
          </a:p>
          <a:p>
            <a:pPr>
              <a:spcBef>
                <a:spcPts val="300"/>
              </a:spcBef>
              <a:defRPr b="1" sz="850">
                <a:solidFill>
                  <a:srgbClr val="F8FAFC"/>
                </a:solidFill>
              </a:defRPr>
            </a:pPr>
            <a:r>
              <a:t>Nodes: execute_remediation, verify_health, commit_audit</a:t>
            </a:r>
          </a:p>
          <a:p>
            <a:pPr>
              <a:spcBef>
                <a:spcPts val="600"/>
              </a:spcBef>
              <a:defRPr sz="900">
                <a:solidFill>
                  <a:srgbClr val="E2E8F0"/>
                </a:solidFill>
              </a:defRPr>
            </a:pPr>
            <a:r>
              <a:t>• Invokes safe Docker SDK action</a:t>
            </a:r>
            <a:br/>
            <a:r>
              <a:t>• Polls /health up to 3 retries</a:t>
            </a:r>
            <a:br/>
            <a:r>
              <a:t>• Verifies latency &amp; HTTP 200 OK</a:t>
            </a:r>
            <a:br/>
            <a:r>
              <a:t>• Writes immutable audit record</a:t>
            </a:r>
            <a:br/>
            <a:r>
              <a:t>• Shifts state to RESOLVED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38BDF8"/>
                </a:solidFill>
                <a:latin typeface="Segoe UI"/>
              </a:defRPr>
            </a:pPr>
            <a:r>
              <a:t>7. QUALITY ATTRIBUTES &amp; DECISION RECORDS</a:t>
            </a:r>
          </a:p>
        </p:txBody>
      </p:sp>
      <p:sp>
        <p:nvSpPr>
          <p:cNvPr id="4" name="TextBox 3"/>
          <p:cNvSpPr txBox="1"/>
          <p:nvPr/>
        </p:nvSpPr>
        <p:spPr>
          <a:xfrm>
            <a:off x="731520" y="731520"/>
            <a:ext cx="10698480" cy="548640"/>
          </a:xfrm>
          <a:prstGeom prst="rect">
            <a:avLst/>
          </a:prstGeom>
          <a:noFill/>
        </p:spPr>
        <p:txBody>
          <a:bodyPr wrap="square" lIns="0" tIns="0" rIns="0" bIns="0">
            <a:spAutoFit/>
          </a:bodyPr>
          <a:lstStyle/>
          <a:p>
            <a:pPr>
              <a:defRPr sz="2200" b="1">
                <a:solidFill>
                  <a:srgbClr val="F8FAFC"/>
                </a:solidFill>
                <a:latin typeface="Segoe UI"/>
              </a:defRPr>
            </a:pPr>
            <a:r>
              <a:t>Non-Functional Requirements (NFRs) &amp; Architectural Decision Records (ADRs)</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pPr>
              <a:defRPr sz="1200">
                <a:solidFill>
                  <a:srgbClr val="94A3B8"/>
                </a:solidFill>
                <a:latin typeface="Segoe UI"/>
              </a:defRPr>
            </a:pPr>
            <a:r>
              <a:t>Evaluating architectural trade-offs, engineering rationale, and non-functional guarantees</a:t>
            </a:r>
          </a:p>
        </p:txBody>
      </p:sp>
      <p:sp>
        <p:nvSpPr>
          <p:cNvPr id="6" name="Rounded Rectangle 5"/>
          <p:cNvSpPr/>
          <p:nvPr/>
        </p:nvSpPr>
        <p:spPr>
          <a:xfrm>
            <a:off x="731520" y="1737360"/>
            <a:ext cx="5212080" cy="46634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50">
                <a:solidFill>
                  <a:srgbClr val="38BDF8"/>
                </a:solidFill>
              </a:defRPr>
            </a:pPr>
            <a:r>
              <a:t>🎯 ARCHITECTURAL QUALITY ATTRIBUTES (NFRS)</a:t>
            </a:r>
          </a:p>
          <a:p>
            <a:pPr>
              <a:spcBef>
                <a:spcPts val="400"/>
              </a:spcBef>
            </a:pPr>
            <a:r>
              <a:rPr b="1" sz="900">
                <a:solidFill>
                  <a:srgbClr val="F8FAFC"/>
                </a:solidFill>
              </a:rPr>
              <a:t>• Availability (MTTR &lt;15s): </a:t>
            </a:r>
            <a:r>
              <a:rPr sz="850">
                <a:solidFill>
                  <a:srgbClr val="E2E8F0"/>
                </a:solidFill>
              </a:rPr>
              <a:t>System continuously self-heals in seconds. Dual-mode heuristic fallback ensures 100% control plane availability even during external API downtime.</a:t>
            </a:r>
          </a:p>
          <a:p>
            <a:pPr>
              <a:spcBef>
                <a:spcPts val="400"/>
              </a:spcBef>
            </a:pPr>
            <a:r>
              <a:rPr b="1" sz="900">
                <a:solidFill>
                  <a:srgbClr val="F8FAFC"/>
                </a:solidFill>
              </a:rPr>
              <a:t>• Security &amp; Safety: </a:t>
            </a:r>
            <a:r>
              <a:rPr sz="850">
                <a:solidFill>
                  <a:srgbClr val="E2E8F0"/>
                </a:solidFill>
              </a:rPr>
              <a:t>Deterministic Zero-Shell boundary blocks all arbitrary command execution. High-blast-radius targets require explicit cryptographic human sign-off.</a:t>
            </a:r>
          </a:p>
          <a:p>
            <a:pPr>
              <a:spcBef>
                <a:spcPts val="400"/>
              </a:spcBef>
            </a:pPr>
            <a:r>
              <a:rPr b="1" sz="900">
                <a:solidFill>
                  <a:srgbClr val="F8FAFC"/>
                </a:solidFill>
              </a:rPr>
              <a:t>• Performance &amp; Latency: </a:t>
            </a:r>
            <a:r>
              <a:rPr sz="850">
                <a:solidFill>
                  <a:srgbClr val="E2E8F0"/>
                </a:solidFill>
              </a:rPr>
              <a:t>Drain log parsing and Isolation Forest inference complete in &lt;8ms. SQLite WAL journaling allows lock-free concurrent reads without thread blocking.</a:t>
            </a:r>
          </a:p>
          <a:p>
            <a:pPr>
              <a:spcBef>
                <a:spcPts val="400"/>
              </a:spcBef>
            </a:pPr>
            <a:r>
              <a:rPr b="1" sz="900">
                <a:solidFill>
                  <a:srgbClr val="F8FAFC"/>
                </a:solidFill>
              </a:rPr>
              <a:t>• Modularity &amp; Maintainability: </a:t>
            </a:r>
            <a:r>
              <a:rPr sz="850">
                <a:solidFill>
                  <a:srgbClr val="E2E8F0"/>
                </a:solidFill>
              </a:rPr>
              <a:t>Layered boundaries allow independent component upgrades (e.g. swapping Gemini with Claude, or SQLite with PostgreSQL) with zero ripple effects.</a:t>
            </a:r>
          </a:p>
          <a:p>
            <a:pPr>
              <a:spcBef>
                <a:spcPts val="400"/>
              </a:spcBef>
            </a:pPr>
            <a:r>
              <a:rPr b="1" sz="900">
                <a:solidFill>
                  <a:srgbClr val="F8FAFC"/>
                </a:solidFill>
              </a:rPr>
              <a:t>• Explainability &amp; Auditability: </a:t>
            </a:r>
            <a:r>
              <a:rPr sz="850">
                <a:solidFill>
                  <a:srgbClr val="E2E8F0"/>
                </a:solidFill>
              </a:rPr>
              <a:t>Every AI diagnosis cites specific runbook chunks and outputs a confidence score (0.0 to 1.0). Every action is permanently written to the audit ledger.</a:t>
            </a:r>
          </a:p>
        </p:txBody>
      </p:sp>
      <p:sp>
        <p:nvSpPr>
          <p:cNvPr id="7" name="Rounded Rectangle 6"/>
          <p:cNvSpPr/>
          <p:nvPr/>
        </p:nvSpPr>
        <p:spPr>
          <a:xfrm>
            <a:off x="6217920" y="1737360"/>
            <a:ext cx="5212080" cy="4663440"/>
          </a:xfrm>
          <a:prstGeom prst="roundRect">
            <a:avLst/>
          </a:prstGeom>
          <a:solidFill>
            <a:srgbClr val="1E293B"/>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50">
                <a:solidFill>
                  <a:srgbClr val="A78BFA"/>
                </a:solidFill>
              </a:defRPr>
            </a:pPr>
            <a:r>
              <a:t>📋 ARCHITECTURAL DECISION RECORDS (ADRS)</a:t>
            </a:r>
          </a:p>
          <a:p>
            <a:pPr>
              <a:spcBef>
                <a:spcPts val="300"/>
              </a:spcBef>
            </a:pPr>
            <a:r>
              <a:rPr b="1" sz="900">
                <a:solidFill>
                  <a:srgbClr val="F8FAFC"/>
                </a:solidFill>
              </a:rPr>
              <a:t>• ADR-01: LangGraph FSM vs. Linear Chains
  </a:t>
            </a:r>
            <a:r>
              <a:rPr sz="850">
                <a:solidFill>
                  <a:srgbClr val="E2E8F0"/>
                </a:solidFill>
              </a:rPr>
              <a:t>Adopted cyclic state machine to support retry verification loops and human pause states; linear chains cannot loop safely.</a:t>
            </a:r>
          </a:p>
          <a:p>
            <a:pPr>
              <a:spcBef>
                <a:spcPts val="300"/>
              </a:spcBef>
            </a:pPr>
            <a:r>
              <a:rPr b="1" sz="900">
                <a:solidFill>
                  <a:srgbClr val="F8FAFC"/>
                </a:solidFill>
              </a:rPr>
              <a:t>• ADR-02: Zero-Shell Policy vs. Free Shell Access
  </a:t>
            </a:r>
            <a:r>
              <a:rPr sz="850">
                <a:solidFill>
                  <a:srgbClr val="E2E8F0"/>
                </a:solidFill>
              </a:rPr>
              <a:t>Adopted strict 5-action allowlist; completely eliminates the risk of catastrophic AI hallucinations (e.g. rm -rf /).</a:t>
            </a:r>
          </a:p>
          <a:p>
            <a:pPr>
              <a:spcBef>
                <a:spcPts val="300"/>
              </a:spcBef>
            </a:pPr>
            <a:r>
              <a:rPr b="1" sz="900">
                <a:solidFill>
                  <a:srgbClr val="F8FAFC"/>
                </a:solidFill>
              </a:rPr>
              <a:t>• ADR-03: Isolation Forest vs. LLM Log Parsing
  </a:t>
            </a:r>
            <a:r>
              <a:rPr sz="850">
                <a:solidFill>
                  <a:srgbClr val="E2E8F0"/>
                </a:solidFill>
              </a:rPr>
              <a:t>Adopted unsupervised ML for log scoring; achieves &lt;8ms latency and linear time complexity without expensive cloud API token bills.</a:t>
            </a:r>
          </a:p>
          <a:p>
            <a:pPr>
              <a:spcBef>
                <a:spcPts val="300"/>
              </a:spcBef>
            </a:pPr>
            <a:r>
              <a:rPr b="1" sz="900">
                <a:solidFill>
                  <a:srgbClr val="F8FAFC"/>
                </a:solidFill>
              </a:rPr>
              <a:t>• ADR-04: SQLite 3 WAL vs. External PostgreSQL
  </a:t>
            </a:r>
            <a:r>
              <a:rPr sz="850">
                <a:solidFill>
                  <a:srgbClr val="E2E8F0"/>
                </a:solidFill>
              </a:rPr>
              <a:t>Adopted embedded SQLite with WAL journaling for zero external operational dependencies, zero-admin setup, and ACID reliability.</a:t>
            </a:r>
          </a:p>
          <a:p>
            <a:pPr>
              <a:spcBef>
                <a:spcPts val="300"/>
              </a:spcBef>
            </a:pPr>
            <a:r>
              <a:rPr b="1" sz="900">
                <a:solidFill>
                  <a:srgbClr val="F8FAFC"/>
                </a:solidFill>
              </a:rPr>
              <a:t>• ADR-05: Hybrid Runbook RAG vs. Fine-Tuning
  </a:t>
            </a:r>
            <a:r>
              <a:rPr sz="850">
                <a:solidFill>
                  <a:srgbClr val="E2E8F0"/>
                </a:solidFill>
              </a:rPr>
              <a:t>Adopted TF-IDF Markdown RAG; allows SRE engineers to update runbooks in real-time as markdown files without slow model retraining.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38BDF8"/>
                </a:solidFill>
                <a:latin typeface="Segoe UI"/>
              </a:defRPr>
            </a:pPr>
            <a:r>
              <a:t>8. SOFTWARE DEVELOPMENT METHODOLOGY</a:t>
            </a:r>
          </a:p>
        </p:txBody>
      </p:sp>
      <p:sp>
        <p:nvSpPr>
          <p:cNvPr id="4" name="TextBox 3"/>
          <p:cNvSpPr txBox="1"/>
          <p:nvPr/>
        </p:nvSpPr>
        <p:spPr>
          <a:xfrm>
            <a:off x="731520" y="731520"/>
            <a:ext cx="10698480" cy="548640"/>
          </a:xfrm>
          <a:prstGeom prst="rect">
            <a:avLst/>
          </a:prstGeom>
          <a:noFill/>
        </p:spPr>
        <p:txBody>
          <a:bodyPr wrap="square" lIns="0" tIns="0" rIns="0" bIns="0">
            <a:spAutoFit/>
          </a:bodyPr>
          <a:lstStyle/>
          <a:p>
            <a:pPr>
              <a:defRPr sz="2200" b="1">
                <a:solidFill>
                  <a:srgbClr val="F8FAFC"/>
                </a:solidFill>
                <a:latin typeface="Segoe UI"/>
              </a:defRPr>
            </a:pPr>
            <a:r>
              <a:t>Why Waterfall Fails for Cloud Operations vs. SRE Continuous Lifecycle</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pPr>
              <a:defRPr sz="1200">
                <a:solidFill>
                  <a:srgbClr val="94A3B8"/>
                </a:solidFill>
                <a:latin typeface="Segoe UI"/>
              </a:defRPr>
            </a:pPr>
            <a:r>
              <a:t>Contrasting rigid sequential delivery against continuous, automated closed-loop resilience</a:t>
            </a:r>
          </a:p>
        </p:txBody>
      </p:sp>
      <p:graphicFrame>
        <p:nvGraphicFramePr>
          <p:cNvPr id="6" name="Table 5"/>
          <p:cNvGraphicFramePr>
            <a:graphicFrameLocks noGrp="1"/>
          </p:cNvGraphicFramePr>
          <p:nvPr/>
        </p:nvGraphicFramePr>
        <p:xfrm>
          <a:off x="731520" y="1737360"/>
          <a:ext cx="10698480" cy="2926080"/>
        </p:xfrm>
        <a:graphic>
          <a:graphicData uri="http://schemas.openxmlformats.org/drawingml/2006/table">
            <a:tbl>
              <a:tblPr firstRow="1" bandRow="1">
                <a:tableStyleId>{5C22544A-7EE6-4342-B048-85BDC9FD1C3A}</a:tableStyleId>
              </a:tblPr>
              <a:tblGrid>
                <a:gridCol w="2103120"/>
                <a:gridCol w="4297680"/>
                <a:gridCol w="4297680"/>
              </a:tblGrid>
              <a:tr h="487680">
                <a:tc>
                  <a:txBody>
                    <a:bodyPr/>
                    <a:lstStyle/>
                    <a:p>
                      <a:pPr>
                        <a:defRPr b="1" sz="950">
                          <a:solidFill>
                            <a:srgbClr val="F8FAFC"/>
                          </a:solidFill>
                        </a:defRPr>
                      </a:pPr>
                      <a:r>
                        <a:t>Evaluation Dimension</a:t>
                      </a:r>
                    </a:p>
                  </a:txBody>
                  <a:tcPr>
                    <a:solidFill>
                      <a:srgbClr val="1E3A8A"/>
                    </a:solidFill>
                  </a:tcPr>
                </a:tc>
                <a:tc>
                  <a:txBody>
                    <a:bodyPr/>
                    <a:lstStyle/>
                    <a:p>
                      <a:pPr>
                        <a:defRPr b="1" sz="950">
                          <a:solidFill>
                            <a:srgbClr val="F8FAFC"/>
                          </a:solidFill>
                        </a:defRPr>
                      </a:pPr>
                      <a:r>
                        <a:t>Traditional Waterfall Model</a:t>
                      </a:r>
                    </a:p>
                  </a:txBody>
                  <a:tcPr>
                    <a:solidFill>
                      <a:srgbClr val="1E3A8A"/>
                    </a:solidFill>
                  </a:tcPr>
                </a:tc>
                <a:tc>
                  <a:txBody>
                    <a:bodyPr/>
                    <a:lstStyle/>
                    <a:p>
                      <a:pPr>
                        <a:defRPr b="1" sz="950">
                          <a:solidFill>
                            <a:srgbClr val="F8FAFC"/>
                          </a:solidFill>
                        </a:defRPr>
                      </a:pPr>
                      <a:r>
                        <a:t>AutoSRE SRE Continuous Agile Lifecycle</a:t>
                      </a:r>
                    </a:p>
                  </a:txBody>
                  <a:tcPr>
                    <a:solidFill>
                      <a:srgbClr val="1E3A8A"/>
                    </a:solidFill>
                  </a:tcPr>
                </a:tc>
              </a:tr>
              <a:tr h="487680">
                <a:tc>
                  <a:txBody>
                    <a:bodyPr/>
                    <a:lstStyle/>
                    <a:p>
                      <a:pPr>
                        <a:defRPr sz="850">
                          <a:solidFill>
                            <a:srgbClr val="F8FAFC"/>
                          </a:solidFill>
                        </a:defRPr>
                      </a:pPr>
                      <a:r>
                        <a:t>Process Workflow</a:t>
                      </a:r>
                    </a:p>
                  </a:txBody>
                  <a:tcPr>
                    <a:solidFill>
                      <a:srgbClr val="1E293B"/>
                    </a:solidFill>
                  </a:tcPr>
                </a:tc>
                <a:tc>
                  <a:txBody>
                    <a:bodyPr/>
                    <a:lstStyle/>
                    <a:p>
                      <a:pPr>
                        <a:defRPr sz="850">
                          <a:solidFill>
                            <a:srgbClr val="E2E8F0"/>
                          </a:solidFill>
                        </a:defRPr>
                      </a:pPr>
                      <a:r>
                        <a:t>Strictly sequential (Phase N+1 cannot start until Phase N is 100% finished &amp; signed off).</a:t>
                      </a:r>
                    </a:p>
                  </a:txBody>
                  <a:tcPr>
                    <a:solidFill>
                      <a:srgbClr val="1E293B"/>
                    </a:solidFill>
                  </a:tcPr>
                </a:tc>
                <a:tc>
                  <a:txBody>
                    <a:bodyPr/>
                    <a:lstStyle/>
                    <a:p>
                      <a:pPr>
                        <a:defRPr sz="850">
                          <a:solidFill>
                            <a:srgbClr val="E2E8F0"/>
                          </a:solidFill>
                        </a:defRPr>
                      </a:pPr>
                      <a:r>
                        <a:t>Continuous, cyclic reflex loops: Sense -&gt; Plan -&gt; Act -&gt; Verify.</a:t>
                      </a:r>
                    </a:p>
                  </a:txBody>
                  <a:tcPr>
                    <a:solidFill>
                      <a:srgbClr val="1E293B"/>
                    </a:solidFill>
                  </a:tcPr>
                </a:tc>
              </a:tr>
              <a:tr h="487680">
                <a:tc>
                  <a:txBody>
                    <a:bodyPr/>
                    <a:lstStyle/>
                    <a:p>
                      <a:pPr>
                        <a:defRPr sz="850">
                          <a:solidFill>
                            <a:srgbClr val="F8FAFC"/>
                          </a:solidFill>
                        </a:defRPr>
                      </a:pPr>
                      <a:r>
                        <a:t>Requirements Flexibility</a:t>
                      </a:r>
                    </a:p>
                  </a:txBody>
                  <a:tcPr>
                    <a:solidFill>
                      <a:srgbClr val="0F172A"/>
                    </a:solidFill>
                  </a:tcPr>
                </a:tc>
                <a:tc>
                  <a:txBody>
                    <a:bodyPr/>
                    <a:lstStyle/>
                    <a:p>
                      <a:pPr>
                        <a:defRPr sz="850">
                          <a:solidFill>
                            <a:srgbClr val="E2E8F0"/>
                          </a:solidFill>
                        </a:defRPr>
                      </a:pPr>
                      <a:r>
                        <a:t>Rigidly frozen upfront for 6 to 12 months; changes are extremely costly.</a:t>
                      </a:r>
                    </a:p>
                  </a:txBody>
                  <a:tcPr>
                    <a:solidFill>
                      <a:srgbClr val="0F172A"/>
                    </a:solidFill>
                  </a:tcPr>
                </a:tc>
                <a:tc>
                  <a:txBody>
                    <a:bodyPr/>
                    <a:lstStyle/>
                    <a:p>
                      <a:pPr>
                        <a:defRPr sz="850">
                          <a:solidFill>
                            <a:srgbClr val="E2E8F0"/>
                          </a:solidFill>
                        </a:defRPr>
                      </a:pPr>
                      <a:r>
                        <a:t>Dynamic &amp; adaptive: auto-discovers newly registered endpoints &amp; adapts to API drift.</a:t>
                      </a:r>
                    </a:p>
                  </a:txBody>
                  <a:tcPr>
                    <a:solidFill>
                      <a:srgbClr val="0F172A"/>
                    </a:solidFill>
                  </a:tcPr>
                </a:tc>
              </a:tr>
              <a:tr h="487680">
                <a:tc>
                  <a:txBody>
                    <a:bodyPr/>
                    <a:lstStyle/>
                    <a:p>
                      <a:pPr>
                        <a:defRPr sz="850">
                          <a:solidFill>
                            <a:srgbClr val="F8FAFC"/>
                          </a:solidFill>
                        </a:defRPr>
                      </a:pPr>
                      <a:r>
                        <a:t>Testing Philosophy</a:t>
                      </a:r>
                    </a:p>
                  </a:txBody>
                  <a:tcPr>
                    <a:solidFill>
                      <a:srgbClr val="1E293B"/>
                    </a:solidFill>
                  </a:tcPr>
                </a:tc>
                <a:tc>
                  <a:txBody>
                    <a:bodyPr/>
                    <a:lstStyle/>
                    <a:p>
                      <a:pPr>
                        <a:defRPr sz="850">
                          <a:solidFill>
                            <a:srgbClr val="E2E8F0"/>
                          </a:solidFill>
                        </a:defRPr>
                      </a:pPr>
                      <a:r>
                        <a:t>Late 'Big-Bang' manual testing at the very end of the project lifecycle.</a:t>
                      </a:r>
                    </a:p>
                  </a:txBody>
                  <a:tcPr>
                    <a:solidFill>
                      <a:srgbClr val="1E293B"/>
                    </a:solidFill>
                  </a:tcPr>
                </a:tc>
                <a:tc>
                  <a:txBody>
                    <a:bodyPr/>
                    <a:lstStyle/>
                    <a:p>
                      <a:pPr>
                        <a:defRPr sz="850">
                          <a:solidFill>
                            <a:srgbClr val="E2E8F0"/>
                          </a:solidFill>
                        </a:defRPr>
                      </a:pPr>
                      <a:r>
                        <a:t>36 automated unit tests (100% pass) + proactive Chaos Engineering fire drills.</a:t>
                      </a:r>
                    </a:p>
                  </a:txBody>
                  <a:tcPr>
                    <a:solidFill>
                      <a:srgbClr val="1E293B"/>
                    </a:solidFill>
                  </a:tcPr>
                </a:tc>
              </a:tr>
              <a:tr h="487680">
                <a:tc>
                  <a:txBody>
                    <a:bodyPr/>
                    <a:lstStyle/>
                    <a:p>
                      <a:pPr>
                        <a:defRPr sz="850">
                          <a:solidFill>
                            <a:srgbClr val="F8FAFC"/>
                          </a:solidFill>
                        </a:defRPr>
                      </a:pPr>
                      <a:r>
                        <a:t>Outage Recovery</a:t>
                      </a:r>
                    </a:p>
                  </a:txBody>
                  <a:tcPr>
                    <a:solidFill>
                      <a:srgbClr val="0F172A"/>
                    </a:solidFill>
                  </a:tcPr>
                </a:tc>
                <a:tc>
                  <a:txBody>
                    <a:bodyPr/>
                    <a:lstStyle/>
                    <a:p>
                      <a:pPr>
                        <a:defRPr sz="850">
                          <a:solidFill>
                            <a:srgbClr val="E2E8F0"/>
                          </a:solidFill>
                        </a:defRPr>
                      </a:pPr>
                      <a:r>
                        <a:t>Human paged at 3 AM; 45+ minutes manual SSH log digging (High MTTR).</a:t>
                      </a:r>
                    </a:p>
                  </a:txBody>
                  <a:tcPr>
                    <a:solidFill>
                      <a:srgbClr val="0F172A"/>
                    </a:solidFill>
                  </a:tcPr>
                </a:tc>
                <a:tc>
                  <a:txBody>
                    <a:bodyPr/>
                    <a:lstStyle/>
                    <a:p>
                      <a:pPr>
                        <a:defRPr sz="850">
                          <a:solidFill>
                            <a:srgbClr val="E2E8F0"/>
                          </a:solidFill>
                        </a:defRPr>
                      </a:pPr>
                      <a:r>
                        <a:t>Autonomous reflex arc: Detects, diagnoses, and heals in under 15 seconds.</a:t>
                      </a:r>
                    </a:p>
                  </a:txBody>
                  <a:tcPr>
                    <a:solidFill>
                      <a:srgbClr val="0F172A"/>
                    </a:solidFill>
                  </a:tcPr>
                </a:tc>
              </a:tr>
              <a:tr h="487680">
                <a:tc>
                  <a:txBody>
                    <a:bodyPr/>
                    <a:lstStyle/>
                    <a:p>
                      <a:pPr>
                        <a:defRPr sz="850">
                          <a:solidFill>
                            <a:srgbClr val="F8FAFC"/>
                          </a:solidFill>
                        </a:defRPr>
                      </a:pPr>
                      <a:r>
                        <a:t>System Resilience</a:t>
                      </a:r>
                    </a:p>
                  </a:txBody>
                  <a:tcPr>
                    <a:solidFill>
                      <a:srgbClr val="1E293B"/>
                    </a:solidFill>
                  </a:tcPr>
                </a:tc>
                <a:tc>
                  <a:txBody>
                    <a:bodyPr/>
                    <a:lstStyle/>
                    <a:p>
                      <a:pPr>
                        <a:defRPr sz="850">
                          <a:solidFill>
                            <a:srgbClr val="E2E8F0"/>
                          </a:solidFill>
                        </a:defRPr>
                      </a:pPr>
                      <a:r>
                        <a:t>Fragile: unforeseen production bugs cause prolonged system outages.</a:t>
                      </a:r>
                    </a:p>
                  </a:txBody>
                  <a:tcPr>
                    <a:solidFill>
                      <a:srgbClr val="1E293B"/>
                    </a:solidFill>
                  </a:tcPr>
                </a:tc>
                <a:tc>
                  <a:txBody>
                    <a:bodyPr/>
                    <a:lstStyle/>
                    <a:p>
                      <a:pPr>
                        <a:defRPr sz="850">
                          <a:solidFill>
                            <a:srgbClr val="E2E8F0"/>
                          </a:solidFill>
                        </a:defRPr>
                      </a:pPr>
                      <a:r>
                        <a:t>Resilient: Heuristic fallback ensures 100% uptime; Zero-Shell safety guardrails.</a:t>
                      </a:r>
                    </a:p>
                  </a:txBody>
                  <a:tcPr>
                    <a:solidFill>
                      <a:srgbClr val="1E293B"/>
                    </a:solidFill>
                  </a:tcPr>
                </a:tc>
              </a:tr>
            </a:tbl>
          </a:graphicData>
        </a:graphic>
      </p:graphicFrame>
      <p:sp>
        <p:nvSpPr>
          <p:cNvPr id="7" name="Rounded Rectangle 6"/>
          <p:cNvSpPr/>
          <p:nvPr/>
        </p:nvSpPr>
        <p:spPr>
          <a:xfrm>
            <a:off x="731520" y="4846320"/>
            <a:ext cx="10698480" cy="1554480"/>
          </a:xfrm>
          <a:prstGeom prst="roundRect">
            <a:avLst/>
          </a:prstGeom>
          <a:solidFill>
            <a:srgbClr val="182235"/>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FBBF24"/>
                </a:solidFill>
              </a:defRPr>
            </a:pPr>
            <a:r>
              <a:t>🔥 CORE SAD LESSON: WHY WATERFALL FAILS IN CLOUD OPERATIONS</a:t>
            </a:r>
          </a:p>
          <a:p>
            <a:pPr>
              <a:spcBef>
                <a:spcPts val="300"/>
              </a:spcBef>
              <a:defRPr sz="950">
                <a:solidFill>
                  <a:srgbClr val="E2E8F0"/>
                </a:solidFill>
              </a:defRPr>
            </a:pPr>
            <a:r>
              <a:t>In cloud microservices, failures (traffic spikes, memory leaks, connection pool exhaustion) are dynamic and unpredictable. You cannot freeze operational requirements for 6 months! If a microservice crashes at 3 AM, you cannot tell the production system to wait for a 6-month Waterfall phase. AutoSRE embraces Chaos Engineering: just like running hospital fire drills, we deliberately inject faults to verify that the system detects, plans, and heals automatically in under 15 seconds.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38BDF8"/>
                </a:solidFill>
                <a:latin typeface="Segoe UI"/>
              </a:defRPr>
            </a:pPr>
            <a:r>
              <a:t>9. VISUAL OPERATIONAL COCKPIT</a:t>
            </a:r>
          </a:p>
        </p:txBody>
      </p:sp>
      <p:sp>
        <p:nvSpPr>
          <p:cNvPr id="4" name="TextBox 3"/>
          <p:cNvSpPr txBox="1"/>
          <p:nvPr/>
        </p:nvSpPr>
        <p:spPr>
          <a:xfrm>
            <a:off x="731520" y="731520"/>
            <a:ext cx="10698480" cy="548640"/>
          </a:xfrm>
          <a:prstGeom prst="rect">
            <a:avLst/>
          </a:prstGeom>
          <a:noFill/>
        </p:spPr>
        <p:txBody>
          <a:bodyPr wrap="square" lIns="0" tIns="0" rIns="0" bIns="0">
            <a:spAutoFit/>
          </a:bodyPr>
          <a:lstStyle/>
          <a:p>
            <a:pPr>
              <a:defRPr sz="2200" b="1">
                <a:solidFill>
                  <a:srgbClr val="F8FAFC"/>
                </a:solidFill>
                <a:latin typeface="Segoe UI"/>
              </a:defRPr>
            </a:pPr>
            <a:r>
              <a:t>Verified Live Dashboard Implementation (4-Panel Showcase)</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pPr>
              <a:defRPr sz="1200">
                <a:solidFill>
                  <a:srgbClr val="94A3B8"/>
                </a:solidFill>
                <a:latin typeface="Segoe UI"/>
              </a:defRPr>
            </a:pPr>
            <a:r>
              <a:t>Sub-millisecond glassmorphic UI displaying real-time telemetry, AI war room, and chaos testing</a:t>
            </a:r>
          </a:p>
        </p:txBody>
      </p:sp>
      <p:sp>
        <p:nvSpPr>
          <p:cNvPr id="6" name="Rounded Rectangle 5"/>
          <p:cNvSpPr/>
          <p:nvPr/>
        </p:nvSpPr>
        <p:spPr>
          <a:xfrm>
            <a:off x="731520" y="1737360"/>
            <a:ext cx="5212080" cy="23774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emini_rca_war_room_1791068379213.png"/>
          <p:cNvPicPr>
            <a:picLocks noChangeAspect="1"/>
          </p:cNvPicPr>
          <p:nvPr/>
        </p:nvPicPr>
        <p:blipFill>
          <a:blip r:embed="rId2"/>
          <a:stretch>
            <a:fillRect/>
          </a:stretch>
        </p:blipFill>
        <p:spPr>
          <a:xfrm>
            <a:off x="804672" y="1810512"/>
            <a:ext cx="5065776" cy="2011680"/>
          </a:xfrm>
          <a:prstGeom prst="rect">
            <a:avLst/>
          </a:prstGeom>
        </p:spPr>
      </p:pic>
      <p:sp>
        <p:nvSpPr>
          <p:cNvPr id="8" name="TextBox 7"/>
          <p:cNvSpPr txBox="1"/>
          <p:nvPr/>
        </p:nvSpPr>
        <p:spPr>
          <a:xfrm>
            <a:off x="822960" y="3840480"/>
            <a:ext cx="5029200" cy="228600"/>
          </a:xfrm>
          <a:prstGeom prst="rect">
            <a:avLst/>
          </a:prstGeom>
          <a:noFill/>
        </p:spPr>
        <p:txBody>
          <a:bodyPr wrap="square" lIns="0" tIns="0">
            <a:spAutoFit/>
          </a:bodyPr>
          <a:lstStyle/>
          <a:p>
            <a:pPr>
              <a:defRPr sz="800" b="1">
                <a:solidFill>
                  <a:srgbClr val="38BDF8"/>
                </a:solidFill>
                <a:latin typeface="Segoe UI"/>
              </a:defRPr>
            </a:pPr>
            <a:r>
              <a:t>Fig 1: Incident War Room — Gemini 3.5 Lite RCA &amp; Approved Tool Execution</a:t>
            </a:r>
          </a:p>
        </p:txBody>
      </p:sp>
      <p:sp>
        <p:nvSpPr>
          <p:cNvPr id="9" name="Rounded Rectangle 8"/>
          <p:cNvSpPr/>
          <p:nvPr/>
        </p:nvSpPr>
        <p:spPr>
          <a:xfrm>
            <a:off x="6217920" y="1737360"/>
            <a:ext cx="5212080" cy="23774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nnected_cafe_state_1791067700862.png"/>
          <p:cNvPicPr>
            <a:picLocks noChangeAspect="1"/>
          </p:cNvPicPr>
          <p:nvPr/>
        </p:nvPicPr>
        <p:blipFill>
          <a:blip r:embed="rId3"/>
          <a:stretch>
            <a:fillRect/>
          </a:stretch>
        </p:blipFill>
        <p:spPr>
          <a:xfrm>
            <a:off x="6291072" y="1810512"/>
            <a:ext cx="5065776" cy="2011680"/>
          </a:xfrm>
          <a:prstGeom prst="rect">
            <a:avLst/>
          </a:prstGeom>
        </p:spPr>
      </p:pic>
      <p:sp>
        <p:nvSpPr>
          <p:cNvPr id="11" name="TextBox 10"/>
          <p:cNvSpPr txBox="1"/>
          <p:nvPr/>
        </p:nvSpPr>
        <p:spPr>
          <a:xfrm>
            <a:off x="6309360" y="3840480"/>
            <a:ext cx="5029200" cy="228600"/>
          </a:xfrm>
          <a:prstGeom prst="rect">
            <a:avLst/>
          </a:prstGeom>
          <a:noFill/>
        </p:spPr>
        <p:txBody>
          <a:bodyPr wrap="square" lIns="0" tIns="0">
            <a:spAutoFit/>
          </a:bodyPr>
          <a:lstStyle/>
          <a:p>
            <a:pPr>
              <a:defRPr sz="800" b="1">
                <a:solidFill>
                  <a:srgbClr val="3B82F6"/>
                </a:solidFill>
                <a:latin typeface="Segoe UI"/>
              </a:defRPr>
            </a:pPr>
            <a:r>
              <a:t>Fig 2: Executive Fleet Mesh Topology — Live Monitored Target Nodes</a:t>
            </a:r>
          </a:p>
        </p:txBody>
      </p:sp>
      <p:sp>
        <p:nvSpPr>
          <p:cNvPr id="12" name="Rounded Rectangle 11"/>
          <p:cNvSpPr/>
          <p:nvPr/>
        </p:nvSpPr>
        <p:spPr>
          <a:xfrm>
            <a:off x="731520" y="4297680"/>
            <a:ext cx="5212080" cy="2377440"/>
          </a:xfrm>
          <a:prstGeom prst="roundRect">
            <a:avLst/>
          </a:prstGeom>
          <a:solidFill>
            <a:srgbClr val="1E293B"/>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ndpoint_discovery_modal_1791066127753.png"/>
          <p:cNvPicPr>
            <a:picLocks noChangeAspect="1"/>
          </p:cNvPicPr>
          <p:nvPr/>
        </p:nvPicPr>
        <p:blipFill>
          <a:blip r:embed="rId4"/>
          <a:stretch>
            <a:fillRect/>
          </a:stretch>
        </p:blipFill>
        <p:spPr>
          <a:xfrm>
            <a:off x="804672" y="4370832"/>
            <a:ext cx="5065776" cy="2011680"/>
          </a:xfrm>
          <a:prstGeom prst="rect">
            <a:avLst/>
          </a:prstGeom>
        </p:spPr>
      </p:pic>
      <p:sp>
        <p:nvSpPr>
          <p:cNvPr id="14" name="TextBox 13"/>
          <p:cNvSpPr txBox="1"/>
          <p:nvPr/>
        </p:nvSpPr>
        <p:spPr>
          <a:xfrm>
            <a:off x="822960" y="6400800"/>
            <a:ext cx="5029200" cy="228600"/>
          </a:xfrm>
          <a:prstGeom prst="rect">
            <a:avLst/>
          </a:prstGeom>
          <a:noFill/>
        </p:spPr>
        <p:txBody>
          <a:bodyPr wrap="square" lIns="0" tIns="0">
            <a:spAutoFit/>
          </a:bodyPr>
          <a:lstStyle/>
          <a:p>
            <a:pPr>
              <a:defRPr sz="800" b="1">
                <a:solidFill>
                  <a:srgbClr val="A78BFA"/>
                </a:solidFill>
                <a:latin typeface="Segoe UI"/>
              </a:defRPr>
            </a:pPr>
            <a:r>
              <a:t>Fig 3: Endpoint Discovery Modal — Dynamic Target Registration &amp; Toggle</a:t>
            </a:r>
          </a:p>
        </p:txBody>
      </p:sp>
      <p:sp>
        <p:nvSpPr>
          <p:cNvPr id="15" name="Rounded Rectangle 14"/>
          <p:cNvSpPr/>
          <p:nvPr/>
        </p:nvSpPr>
        <p:spPr>
          <a:xfrm>
            <a:off x="6217920" y="4297680"/>
            <a:ext cx="5212080" cy="2377440"/>
          </a:xfrm>
          <a:prstGeom prst="round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afe_devops_chaos_lab_1791062764320.png"/>
          <p:cNvPicPr>
            <a:picLocks noChangeAspect="1"/>
          </p:cNvPicPr>
          <p:nvPr/>
        </p:nvPicPr>
        <p:blipFill>
          <a:blip r:embed="rId5"/>
          <a:stretch>
            <a:fillRect/>
          </a:stretch>
        </p:blipFill>
        <p:spPr>
          <a:xfrm>
            <a:off x="6291072" y="4370832"/>
            <a:ext cx="5065776" cy="2011680"/>
          </a:xfrm>
          <a:prstGeom prst="rect">
            <a:avLst/>
          </a:prstGeom>
        </p:spPr>
      </p:pic>
      <p:sp>
        <p:nvSpPr>
          <p:cNvPr id="17" name="TextBox 16"/>
          <p:cNvSpPr txBox="1"/>
          <p:nvPr/>
        </p:nvSpPr>
        <p:spPr>
          <a:xfrm>
            <a:off x="6309360" y="6400800"/>
            <a:ext cx="5029200" cy="228600"/>
          </a:xfrm>
          <a:prstGeom prst="rect">
            <a:avLst/>
          </a:prstGeom>
          <a:noFill/>
        </p:spPr>
        <p:txBody>
          <a:bodyPr wrap="square" lIns="0" tIns="0">
            <a:spAutoFit/>
          </a:bodyPr>
          <a:lstStyle/>
          <a:p>
            <a:pPr>
              <a:defRPr sz="800" b="1">
                <a:solidFill>
                  <a:srgbClr val="34D399"/>
                </a:solidFill>
                <a:latin typeface="Segoe UI"/>
              </a:defRPr>
            </a:pPr>
            <a:r>
              <a:t>Fig 4: Target Application (Bella Vista Cafe) Built-in Chaos Injection Lab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38BDF8"/>
                </a:solidFill>
                <a:latin typeface="Segoe UI"/>
              </a:defRPr>
            </a:pPr>
            <a:r>
              <a:t>10. END-TO-END CASE STUDY TRACE</a:t>
            </a:r>
          </a:p>
        </p:txBody>
      </p:sp>
      <p:sp>
        <p:nvSpPr>
          <p:cNvPr id="4" name="TextBox 3"/>
          <p:cNvSpPr txBox="1"/>
          <p:nvPr/>
        </p:nvSpPr>
        <p:spPr>
          <a:xfrm>
            <a:off x="731520" y="731520"/>
            <a:ext cx="10698480" cy="548640"/>
          </a:xfrm>
          <a:prstGeom prst="rect">
            <a:avLst/>
          </a:prstGeom>
          <a:noFill/>
        </p:spPr>
        <p:txBody>
          <a:bodyPr wrap="square" lIns="0" tIns="0" rIns="0" bIns="0">
            <a:spAutoFit/>
          </a:bodyPr>
          <a:lstStyle/>
          <a:p>
            <a:pPr>
              <a:defRPr sz="2200" b="1">
                <a:solidFill>
                  <a:srgbClr val="F8FAFC"/>
                </a:solidFill>
                <a:latin typeface="Segoe UI"/>
              </a:defRPr>
            </a:pPr>
            <a:r>
              <a:t>Autonomous Healing of Payment Service DB Pool Exhaustion</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pPr>
              <a:defRPr sz="1200">
                <a:solidFill>
                  <a:srgbClr val="94A3B8"/>
                </a:solidFill>
                <a:latin typeface="Segoe UI"/>
              </a:defRPr>
            </a:pPr>
            <a:r>
              <a:t>Step-by-step trace of a live chaos incident resolved autonomously in 11.4 seconds</a:t>
            </a:r>
          </a:p>
        </p:txBody>
      </p:sp>
      <p:sp>
        <p:nvSpPr>
          <p:cNvPr id="6" name="Rounded Rectangle 5"/>
          <p:cNvSpPr/>
          <p:nvPr/>
        </p:nvSpPr>
        <p:spPr>
          <a:xfrm>
            <a:off x="731520" y="1737360"/>
            <a:ext cx="3429000" cy="14173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950">
                <a:solidFill>
                  <a:srgbClr val="38BDF8"/>
                </a:solidFill>
              </a:defRPr>
            </a:pPr>
            <a:r>
              <a:t>STEP 1: CHAOS INJECTED</a:t>
            </a:r>
          </a:p>
          <a:p>
            <a:pPr>
              <a:spcBef>
                <a:spcPts val="300"/>
              </a:spcBef>
              <a:defRPr sz="850">
                <a:solidFill>
                  <a:srgbClr val="E2E8F0"/>
                </a:solidFill>
              </a:defRPr>
            </a:pPr>
            <a:r>
              <a:t>Chaos lab exhausts database connection pool (50/50 active connections) on payment-service.</a:t>
            </a:r>
          </a:p>
        </p:txBody>
      </p:sp>
      <p:sp>
        <p:nvSpPr>
          <p:cNvPr id="7" name="Rounded Rectangle 6"/>
          <p:cNvSpPr/>
          <p:nvPr/>
        </p:nvSpPr>
        <p:spPr>
          <a:xfrm>
            <a:off x="4370832" y="1737360"/>
            <a:ext cx="3429000" cy="14173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950">
                <a:solidFill>
                  <a:srgbClr val="38BDF8"/>
                </a:solidFill>
              </a:defRPr>
            </a:pPr>
            <a:r>
              <a:t>STEP 2: ANOMALY DETECTED</a:t>
            </a:r>
          </a:p>
          <a:p>
            <a:pPr>
              <a:spcBef>
                <a:spcPts val="300"/>
              </a:spcBef>
              <a:defRPr sz="850">
                <a:solidFill>
                  <a:srgbClr val="E2E8F0"/>
                </a:solidFill>
              </a:defRPr>
            </a:pPr>
            <a:r>
              <a:t>Telemetry scraper intercepts 5xx error surge; Drain parser scores template anomaly at -0.28 (&lt;8ms).</a:t>
            </a:r>
          </a:p>
        </p:txBody>
      </p:sp>
      <p:sp>
        <p:nvSpPr>
          <p:cNvPr id="8" name="Rounded Rectangle 7"/>
          <p:cNvSpPr/>
          <p:nvPr/>
        </p:nvSpPr>
        <p:spPr>
          <a:xfrm>
            <a:off x="8001000" y="1737360"/>
            <a:ext cx="3429000" cy="14173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950">
                <a:solidFill>
                  <a:srgbClr val="38BDF8"/>
                </a:solidFill>
              </a:defRPr>
            </a:pPr>
            <a:r>
              <a:t>STEP 3: RUNBOOK RETRIEVED</a:t>
            </a:r>
          </a:p>
          <a:p>
            <a:pPr>
              <a:spcBef>
                <a:spcPts val="300"/>
              </a:spcBef>
              <a:defRPr sz="850">
                <a:solidFill>
                  <a:srgbClr val="E2E8F0"/>
                </a:solidFill>
              </a:defRPr>
            </a:pPr>
            <a:r>
              <a:t>TF-IDF retriever matches database_connection_pool_exhausted.md runbook chunk with 0.89 cosine score.</a:t>
            </a:r>
          </a:p>
        </p:txBody>
      </p:sp>
      <p:sp>
        <p:nvSpPr>
          <p:cNvPr id="9" name="Rounded Rectangle 8"/>
          <p:cNvSpPr/>
          <p:nvPr/>
        </p:nvSpPr>
        <p:spPr>
          <a:xfrm>
            <a:off x="731520" y="3291840"/>
            <a:ext cx="3429000" cy="1417320"/>
          </a:xfrm>
          <a:prstGeom prst="roundRect">
            <a:avLst/>
          </a:prstGeom>
          <a:solidFill>
            <a:srgbClr val="1E293B"/>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950">
                <a:solidFill>
                  <a:srgbClr val="A78BFA"/>
                </a:solidFill>
              </a:defRPr>
            </a:pPr>
            <a:r>
              <a:t>STEP 4: GEMINI RCA REASONED</a:t>
            </a:r>
          </a:p>
          <a:p>
            <a:pPr>
              <a:spcBef>
                <a:spcPts val="300"/>
              </a:spcBef>
              <a:defRPr sz="850">
                <a:solidFill>
                  <a:srgbClr val="E2E8F0"/>
                </a:solidFill>
              </a:defRPr>
            </a:pPr>
            <a:r>
              <a:t>Gemini 3.5 Lite diagnoses leaked connections; proposes restart_deployment with 0.95 confidence.</a:t>
            </a:r>
          </a:p>
        </p:txBody>
      </p:sp>
      <p:sp>
        <p:nvSpPr>
          <p:cNvPr id="10" name="Rounded Rectangle 9"/>
          <p:cNvSpPr/>
          <p:nvPr/>
        </p:nvSpPr>
        <p:spPr>
          <a:xfrm>
            <a:off x="4370832" y="3291840"/>
            <a:ext cx="3429000" cy="1417320"/>
          </a:xfrm>
          <a:prstGeom prst="roundRect">
            <a:avLst/>
          </a:prstGeom>
          <a:solidFill>
            <a:srgbClr val="1E293B"/>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950">
                <a:solidFill>
                  <a:srgbClr val="A78BFA"/>
                </a:solidFill>
              </a:defRPr>
            </a:pPr>
            <a:r>
              <a:t>STEP 5: POLICY GATEKEEPER</a:t>
            </a:r>
          </a:p>
          <a:p>
            <a:pPr>
              <a:spcBef>
                <a:spcPts val="300"/>
              </a:spcBef>
              <a:defRPr sz="850">
                <a:solidFill>
                  <a:srgbClr val="E2E8F0"/>
                </a:solidFill>
              </a:defRPr>
            </a:pPr>
            <a:r>
              <a:t>Gatekeeper identifies payment-service as high-blast-radius; safely holds action in PENDING_APPROVAL.</a:t>
            </a:r>
          </a:p>
        </p:txBody>
      </p:sp>
      <p:sp>
        <p:nvSpPr>
          <p:cNvPr id="11" name="Rounded Rectangle 10"/>
          <p:cNvSpPr/>
          <p:nvPr/>
        </p:nvSpPr>
        <p:spPr>
          <a:xfrm>
            <a:off x="8001000" y="3291840"/>
            <a:ext cx="3429000" cy="1417320"/>
          </a:xfrm>
          <a:prstGeom prst="roundRect">
            <a:avLst/>
          </a:prstGeom>
          <a:solidFill>
            <a:srgbClr val="1E293B"/>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950">
                <a:solidFill>
                  <a:srgbClr val="A78BFA"/>
                </a:solidFill>
              </a:defRPr>
            </a:pPr>
            <a:r>
              <a:t>STEP 6: HUMAN APPROVAL</a:t>
            </a:r>
          </a:p>
          <a:p>
            <a:pPr>
              <a:spcBef>
                <a:spcPts val="300"/>
              </a:spcBef>
              <a:defRPr sz="850">
                <a:solidFill>
                  <a:srgbClr val="E2E8F0"/>
                </a:solidFill>
              </a:defRPr>
            </a:pPr>
            <a:r>
              <a:t>SRE operator reviews RCA and confidence meter in War Room; clicks 'Approve Action' button.</a:t>
            </a:r>
          </a:p>
        </p:txBody>
      </p:sp>
      <p:sp>
        <p:nvSpPr>
          <p:cNvPr id="12" name="Rounded Rectangle 11"/>
          <p:cNvSpPr/>
          <p:nvPr/>
        </p:nvSpPr>
        <p:spPr>
          <a:xfrm>
            <a:off x="731520" y="4846320"/>
            <a:ext cx="3429000" cy="1417320"/>
          </a:xfrm>
          <a:prstGeom prst="round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950">
                <a:solidFill>
                  <a:srgbClr val="34D399"/>
                </a:solidFill>
              </a:defRPr>
            </a:pPr>
            <a:r>
              <a:t>STEP 7: SAFE TOOL EXECUTED</a:t>
            </a:r>
          </a:p>
          <a:p>
            <a:pPr>
              <a:spcBef>
                <a:spcPts val="300"/>
              </a:spcBef>
              <a:defRPr sz="850">
                <a:solidFill>
                  <a:srgbClr val="E2E8F0"/>
                </a:solidFill>
              </a:defRPr>
            </a:pPr>
            <a:r>
              <a:t>Tool executor issues safe container restart via Docker SDK without opening any bash shell.</a:t>
            </a:r>
          </a:p>
        </p:txBody>
      </p:sp>
      <p:sp>
        <p:nvSpPr>
          <p:cNvPr id="13" name="Rounded Rectangle 12"/>
          <p:cNvSpPr/>
          <p:nvPr/>
        </p:nvSpPr>
        <p:spPr>
          <a:xfrm>
            <a:off x="4370832" y="4846320"/>
            <a:ext cx="3429000" cy="1417320"/>
          </a:xfrm>
          <a:prstGeom prst="round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950">
                <a:solidFill>
                  <a:srgbClr val="34D399"/>
                </a:solidFill>
              </a:defRPr>
            </a:pPr>
            <a:r>
              <a:t>STEP 8: AUTOMATED VERIFICATION</a:t>
            </a:r>
          </a:p>
          <a:p>
            <a:pPr>
              <a:spcBef>
                <a:spcPts val="300"/>
              </a:spcBef>
              <a:defRPr sz="850">
                <a:solidFill>
                  <a:srgbClr val="E2E8F0"/>
                </a:solidFill>
              </a:defRPr>
            </a:pPr>
            <a:r>
              <a:t>Health probe polls /health across 3 retries; verifies latency drops to 4ms and returns HTTP 200 OK.</a:t>
            </a:r>
          </a:p>
        </p:txBody>
      </p:sp>
      <p:sp>
        <p:nvSpPr>
          <p:cNvPr id="14" name="Rounded Rectangle 13"/>
          <p:cNvSpPr/>
          <p:nvPr/>
        </p:nvSpPr>
        <p:spPr>
          <a:xfrm>
            <a:off x="8001000" y="4846320"/>
            <a:ext cx="3429000" cy="1417320"/>
          </a:xfrm>
          <a:prstGeom prst="round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b="1" sz="950">
                <a:solidFill>
                  <a:srgbClr val="34D399"/>
                </a:solidFill>
              </a:defRPr>
            </a:pPr>
            <a:r>
              <a:t>STEP 9: AUDIT LOG COMMITTED</a:t>
            </a:r>
          </a:p>
          <a:p>
            <a:pPr>
              <a:spcBef>
                <a:spcPts val="300"/>
              </a:spcBef>
              <a:defRPr sz="850">
                <a:solidFill>
                  <a:srgbClr val="E2E8F0"/>
                </a:solidFill>
              </a:defRPr>
            </a:pPr>
            <a:r>
              <a:t>Incident marked 'resolved'; immutable record written to SQLite audit ledger. Total MTTR: 11.4 SECONDS!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38BDF8"/>
                </a:solidFill>
                <a:latin typeface="Segoe UI"/>
              </a:defRPr>
            </a:pPr>
            <a:r>
              <a:t>11. VERIFICATION &amp; IMPLEMENTATION SCOPE</a:t>
            </a:r>
          </a:p>
        </p:txBody>
      </p:sp>
      <p:sp>
        <p:nvSpPr>
          <p:cNvPr id="4" name="TextBox 3"/>
          <p:cNvSpPr txBox="1"/>
          <p:nvPr/>
        </p:nvSpPr>
        <p:spPr>
          <a:xfrm>
            <a:off x="731520" y="731520"/>
            <a:ext cx="10698480" cy="548640"/>
          </a:xfrm>
          <a:prstGeom prst="rect">
            <a:avLst/>
          </a:prstGeom>
          <a:noFill/>
        </p:spPr>
        <p:txBody>
          <a:bodyPr wrap="square" lIns="0" tIns="0" rIns="0" bIns="0">
            <a:spAutoFit/>
          </a:bodyPr>
          <a:lstStyle/>
          <a:p>
            <a:pPr>
              <a:defRPr sz="2200" b="1">
                <a:solidFill>
                  <a:srgbClr val="F8FAFC"/>
                </a:solidFill>
                <a:latin typeface="Segoe UI"/>
              </a:defRPr>
            </a:pPr>
            <a:r>
              <a:t>Rigorous Test Suite &amp; Implementation Scope Matrix</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pPr>
              <a:defRPr sz="1200">
                <a:solidFill>
                  <a:srgbClr val="94A3B8"/>
                </a:solidFill>
                <a:latin typeface="Segoe UI"/>
              </a:defRPr>
            </a:pPr>
            <a:r>
              <a:t>Empirical verification: 36/36 unit tests passing across all control plane layers</a:t>
            </a:r>
          </a:p>
        </p:txBody>
      </p:sp>
      <p:sp>
        <p:nvSpPr>
          <p:cNvPr id="6" name="Rounded Rectangle 5"/>
          <p:cNvSpPr/>
          <p:nvPr/>
        </p:nvSpPr>
        <p:spPr>
          <a:xfrm>
            <a:off x="731520" y="1737360"/>
            <a:ext cx="5212080" cy="46634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34D399"/>
                </a:solidFill>
              </a:defRPr>
            </a:pPr>
            <a:r>
              <a:t>🧪 VERIFICATION FRAMEWORK: 36/36 PASSING TESTS</a:t>
            </a:r>
          </a:p>
          <a:p>
            <a:pPr>
              <a:spcBef>
                <a:spcPts val="300"/>
              </a:spcBef>
            </a:pPr>
            <a:r>
              <a:rPr b="1" sz="850">
                <a:solidFill>
                  <a:srgbClr val="F8FAFC"/>
                </a:solidFill>
              </a:rPr>
              <a:t>• test_agent.py (3 tests): </a:t>
            </a:r>
            <a:r>
              <a:rPr sz="800">
                <a:solidFill>
                  <a:srgbClr val="E2E8F0"/>
                </a:solidFill>
              </a:rPr>
              <a:t>LangGraph state transitions, policy allowlist enforcement, cyclic reflex loop control.</a:t>
            </a:r>
          </a:p>
          <a:p>
            <a:pPr>
              <a:spcBef>
                <a:spcPts val="300"/>
              </a:spcBef>
            </a:pPr>
            <a:r>
              <a:rPr b="1" sz="850">
                <a:solidFill>
                  <a:srgbClr val="F8FAFC"/>
                </a:solidFill>
              </a:rPr>
              <a:t>• test_backend.py (3 tests): </a:t>
            </a:r>
            <a:r>
              <a:rPr sz="800">
                <a:solidFill>
                  <a:srgbClr val="E2E8F0"/>
                </a:solidFill>
              </a:rPr>
              <a:t>FastAPI REST routes, incident triggers, status aggregation, CORS security headers.</a:t>
            </a:r>
          </a:p>
          <a:p>
            <a:pPr>
              <a:spcBef>
                <a:spcPts val="300"/>
              </a:spcBef>
            </a:pPr>
            <a:r>
              <a:rPr b="1" sz="850">
                <a:solidFill>
                  <a:srgbClr val="F8FAFC"/>
                </a:solidFill>
              </a:rPr>
              <a:t>• test_connectors.py (8 tests): </a:t>
            </a:r>
            <a:r>
              <a:rPr sz="800">
                <a:solidFill>
                  <a:srgbClr val="E2E8F0"/>
                </a:solidFill>
              </a:rPr>
              <a:t>External endpoint discovery, synthetic health pings, Vercel &amp; GitHub webhook ingestors.</a:t>
            </a:r>
          </a:p>
          <a:p>
            <a:pPr>
              <a:spcBef>
                <a:spcPts val="300"/>
              </a:spcBef>
            </a:pPr>
            <a:r>
              <a:rPr b="1" sz="850">
                <a:solidFill>
                  <a:srgbClr val="F8FAFC"/>
                </a:solidFill>
              </a:rPr>
              <a:t>• test_microservices.py (11 tests): </a:t>
            </a:r>
            <a:r>
              <a:rPr sz="800">
                <a:solidFill>
                  <a:srgbClr val="E2E8F0"/>
                </a:solidFill>
              </a:rPr>
              <a:t>Fleet health probes, Prometheus metrics scraping, CRUD ops, chaos injection endpoints.</a:t>
            </a:r>
          </a:p>
          <a:p>
            <a:pPr>
              <a:spcBef>
                <a:spcPts val="300"/>
              </a:spcBef>
            </a:pPr>
            <a:r>
              <a:rPr b="1" sz="850">
                <a:solidFill>
                  <a:srgbClr val="F8FAFC"/>
                </a:solidFill>
              </a:rPr>
              <a:t>• test_ml_anomaly.py (6 tests): </a:t>
            </a:r>
            <a:r>
              <a:rPr sz="800">
                <a:solidFill>
                  <a:srgbClr val="E2E8F0"/>
                </a:solidFill>
              </a:rPr>
              <a:t>Drain regex variable masking, Isolation Forest normal vs anomaly log scoring (&lt;8ms).</a:t>
            </a:r>
          </a:p>
          <a:p>
            <a:pPr>
              <a:spcBef>
                <a:spcPts val="300"/>
              </a:spcBef>
            </a:pPr>
            <a:r>
              <a:rPr b="1" sz="850">
                <a:solidFill>
                  <a:srgbClr val="F8FAFC"/>
                </a:solidFill>
              </a:rPr>
              <a:t>• test_rag.py (5 tests): </a:t>
            </a:r>
            <a:r>
              <a:rPr sz="800">
                <a:solidFill>
                  <a:srgbClr val="E2E8F0"/>
                </a:solidFill>
              </a:rPr>
              <a:t>Markdown runbook semantic index, TF-IDF cosine similarity ranking, irrelevant query handling.</a:t>
            </a:r>
          </a:p>
          <a:p>
            <a:pPr>
              <a:spcBef>
                <a:spcPts val="600"/>
              </a:spcBef>
              <a:defRPr b="1" sz="950">
                <a:solidFill>
                  <a:srgbClr val="34D399"/>
                </a:solidFill>
              </a:defRPr>
            </a:pPr>
            <a:r>
              <a:t>OVERALL OUTCOME: 36/36 TESTS PASSING (100% PASS RATE)</a:t>
            </a:r>
          </a:p>
        </p:txBody>
      </p:sp>
      <p:sp>
        <p:nvSpPr>
          <p:cNvPr id="7" name="Rounded Rectangle 6"/>
          <p:cNvSpPr/>
          <p:nvPr/>
        </p:nvSpPr>
        <p:spPr>
          <a:xfrm>
            <a:off x="6217920" y="1737360"/>
            <a:ext cx="5212080" cy="46634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38BDF8"/>
                </a:solidFill>
              </a:defRPr>
            </a:pPr>
            <a:r>
              <a:t>📊 IMPLEMENTATION SCOPE MATRIX</a:t>
            </a:r>
          </a:p>
          <a:p>
            <a:pPr>
              <a:spcBef>
                <a:spcPts val="250"/>
              </a:spcBef>
            </a:pPr>
            <a:r>
              <a:rPr b="1" sz="850">
                <a:solidFill>
                  <a:srgbClr val="F8FAFC"/>
                </a:solidFill>
              </a:rPr>
              <a:t>• Dashboard UI: </a:t>
            </a:r>
            <a:r>
              <a:rPr sz="800">
                <a:solidFill>
                  <a:srgbClr val="E2E8F0"/>
                </a:solidFill>
              </a:rPr>
              <a:t>Implemented: Dark glassmorphic cockpit, SVG topology mesh, war room, discovery modal.</a:t>
            </a:r>
          </a:p>
          <a:p>
            <a:pPr>
              <a:spcBef>
                <a:spcPts val="250"/>
              </a:spcBef>
            </a:pPr>
            <a:r>
              <a:rPr b="1" sz="850">
                <a:solidFill>
                  <a:srgbClr val="F8FAFC"/>
                </a:solidFill>
              </a:rPr>
              <a:t>• Control Plane: </a:t>
            </a:r>
            <a:r>
              <a:rPr sz="800">
                <a:solidFill>
                  <a:srgbClr val="E2E8F0"/>
                </a:solidFill>
              </a:rPr>
              <a:t>Implemented: FastAPI async routes, Pydantic validation, CORS, connector registry.</a:t>
            </a:r>
          </a:p>
          <a:p>
            <a:pPr>
              <a:spcBef>
                <a:spcPts val="250"/>
              </a:spcBef>
            </a:pPr>
            <a:r>
              <a:rPr b="1" sz="850">
                <a:solidFill>
                  <a:srgbClr val="F8FAFC"/>
                </a:solidFill>
              </a:rPr>
              <a:t>• Agent Engine: </a:t>
            </a:r>
            <a:r>
              <a:rPr sz="800">
                <a:solidFill>
                  <a:srgbClr val="E2E8F0"/>
                </a:solidFill>
              </a:rPr>
              <a:t>Implemented: 8-node LangGraph state machine with cyclic verifier loop.</a:t>
            </a:r>
          </a:p>
          <a:p>
            <a:pPr>
              <a:spcBef>
                <a:spcPts val="250"/>
              </a:spcBef>
            </a:pPr>
            <a:r>
              <a:rPr b="1" sz="850">
                <a:solidFill>
                  <a:srgbClr val="F8FAFC"/>
                </a:solidFill>
              </a:rPr>
              <a:t>• Cognitive LLM: </a:t>
            </a:r>
            <a:r>
              <a:rPr sz="800">
                <a:solidFill>
                  <a:srgbClr val="E2E8F0"/>
                </a:solidFill>
              </a:rPr>
              <a:t>Implemented: Google Gemini 3.5 Flash Lite + Heuristic offline fallback rules.</a:t>
            </a:r>
          </a:p>
          <a:p>
            <a:pPr>
              <a:spcBef>
                <a:spcPts val="250"/>
              </a:spcBef>
            </a:pPr>
            <a:r>
              <a:rPr b="1" sz="850">
                <a:solidFill>
                  <a:srgbClr val="F8FAFC"/>
                </a:solidFill>
              </a:rPr>
              <a:t>• ML Log Engine: </a:t>
            </a:r>
            <a:r>
              <a:rPr sz="800">
                <a:solidFill>
                  <a:srgbClr val="E2E8F0"/>
                </a:solidFill>
              </a:rPr>
              <a:t>Implemented: Drain regex structural parser + Isolation Forest model (&lt;8ms latency).</a:t>
            </a:r>
          </a:p>
          <a:p>
            <a:pPr>
              <a:spcBef>
                <a:spcPts val="250"/>
              </a:spcBef>
            </a:pPr>
            <a:r>
              <a:rPr b="1" sz="850">
                <a:solidFill>
                  <a:srgbClr val="F8FAFC"/>
                </a:solidFill>
              </a:rPr>
              <a:t>• Runbook RAG: </a:t>
            </a:r>
            <a:r>
              <a:rPr sz="800">
                <a:solidFill>
                  <a:srgbClr val="E2E8F0"/>
                </a:solidFill>
              </a:rPr>
              <a:t>Implemented: TF-IDF cosine similarity search over 5 curated markdown runbooks.</a:t>
            </a:r>
          </a:p>
          <a:p>
            <a:pPr>
              <a:spcBef>
                <a:spcPts val="250"/>
              </a:spcBef>
            </a:pPr>
            <a:r>
              <a:rPr b="1" sz="850">
                <a:solidFill>
                  <a:srgbClr val="F8FAFC"/>
                </a:solidFill>
              </a:rPr>
              <a:t>• Security Gate: </a:t>
            </a:r>
            <a:r>
              <a:rPr sz="800">
                <a:solidFill>
                  <a:srgbClr val="E2E8F0"/>
                </a:solidFill>
              </a:rPr>
              <a:t>Implemented: Zero-Shell execution boundary, action allowlist, human approval gate.</a:t>
            </a:r>
          </a:p>
          <a:p>
            <a:pPr>
              <a:spcBef>
                <a:spcPts val="250"/>
              </a:spcBef>
            </a:pPr>
            <a:r>
              <a:rPr b="1" sz="850">
                <a:solidFill>
                  <a:srgbClr val="F8FAFC"/>
                </a:solidFill>
              </a:rPr>
              <a:t>• Database: </a:t>
            </a:r>
            <a:r>
              <a:rPr sz="800">
                <a:solidFill>
                  <a:srgbClr val="E2E8F0"/>
                </a:solidFill>
              </a:rPr>
              <a:t>Implemented: SQLite 3 with SQLAlchemy 2.0 ORM, WAL concurrent reading.</a:t>
            </a:r>
          </a:p>
          <a:p>
            <a:pPr>
              <a:spcBef>
                <a:spcPts val="250"/>
              </a:spcBef>
            </a:pPr>
            <a:r>
              <a:rPr b="1" sz="850">
                <a:solidFill>
                  <a:srgbClr val="F8FAFC"/>
                </a:solidFill>
              </a:rPr>
              <a:t>• Enterprise Scope: </a:t>
            </a:r>
            <a:r>
              <a:rPr sz="800">
                <a:solidFill>
                  <a:srgbClr val="E2E8F0"/>
                </a:solidFill>
              </a:rPr>
              <a:t>Proposed Future: Multi-agent consensus (Auditor), FAISS vector DB, OAuth2/OIDC.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E3A8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38BDF8"/>
                </a:solidFill>
                <a:latin typeface="Segoe UI"/>
              </a:defRPr>
            </a:pPr>
            <a:r>
              <a:t>12. ARCHITECTURAL EVALUATION &amp; DEFENSE SIGN-OFF</a:t>
            </a:r>
          </a:p>
        </p:txBody>
      </p:sp>
      <p:sp>
        <p:nvSpPr>
          <p:cNvPr id="4" name="TextBox 3"/>
          <p:cNvSpPr txBox="1"/>
          <p:nvPr/>
        </p:nvSpPr>
        <p:spPr>
          <a:xfrm>
            <a:off x="731520" y="731520"/>
            <a:ext cx="10698480" cy="548640"/>
          </a:xfrm>
          <a:prstGeom prst="rect">
            <a:avLst/>
          </a:prstGeom>
          <a:noFill/>
        </p:spPr>
        <p:txBody>
          <a:bodyPr wrap="square" lIns="0" tIns="0" rIns="0" bIns="0">
            <a:spAutoFit/>
          </a:bodyPr>
          <a:lstStyle/>
          <a:p>
            <a:pPr>
              <a:defRPr sz="2200" b="1">
                <a:solidFill>
                  <a:srgbClr val="F8FAFC"/>
                </a:solidFill>
                <a:latin typeface="Segoe UI"/>
              </a:defRPr>
            </a:pPr>
            <a:r>
              <a:t>Summary of SAD Contributions, Key Takeaways &amp; Defense Q&amp;A</a:t>
            </a:r>
          </a:p>
        </p:txBody>
      </p:sp>
      <p:sp>
        <p:nvSpPr>
          <p:cNvPr id="5" name="TextBox 4"/>
          <p:cNvSpPr txBox="1"/>
          <p:nvPr/>
        </p:nvSpPr>
        <p:spPr>
          <a:xfrm>
            <a:off x="731520" y="1280160"/>
            <a:ext cx="10698480" cy="365760"/>
          </a:xfrm>
          <a:prstGeom prst="rect">
            <a:avLst/>
          </a:prstGeom>
          <a:noFill/>
        </p:spPr>
        <p:txBody>
          <a:bodyPr wrap="square" lIns="0" tIns="0" rIns="0" bIns="0">
            <a:spAutoFit/>
          </a:bodyPr>
          <a:lstStyle/>
          <a:p>
            <a:pPr>
              <a:defRPr sz="1200">
                <a:solidFill>
                  <a:srgbClr val="94A3B8"/>
                </a:solidFill>
                <a:latin typeface="Segoe UI"/>
              </a:defRPr>
            </a:pPr>
            <a:r>
              <a:t>Formal defense sign-off for Software Architecture &amp; Design (SAD) evaluation</a:t>
            </a:r>
          </a:p>
        </p:txBody>
      </p:sp>
      <p:sp>
        <p:nvSpPr>
          <p:cNvPr id="6" name="Rounded Rectangle 5"/>
          <p:cNvSpPr/>
          <p:nvPr/>
        </p:nvSpPr>
        <p:spPr>
          <a:xfrm>
            <a:off x="731520" y="1737360"/>
            <a:ext cx="3383280" cy="30175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38BDF8"/>
                </a:solidFill>
              </a:defRPr>
            </a:pPr>
            <a:r>
              <a:t>1. ARCHITECTURAL RIGOR</a:t>
            </a:r>
          </a:p>
          <a:p>
            <a:pPr>
              <a:spcBef>
                <a:spcPts val="600"/>
              </a:spcBef>
              <a:defRPr sz="900">
                <a:solidFill>
                  <a:srgbClr val="E2E8F0"/>
                </a:solidFill>
              </a:defRPr>
            </a:pPr>
            <a:r>
              <a:t>• 5-tier layered architecture guarantees strict separation of concerns (SoC).</a:t>
            </a:r>
            <a:br/>
            <a:r>
              <a:t>• Eliminates the Spaghetti Monolith anti-pattern.</a:t>
            </a:r>
            <a:br/>
            <a:r>
              <a:t>• Monitored microservices are protected by strict blast radius boundaries.</a:t>
            </a:r>
          </a:p>
        </p:txBody>
      </p:sp>
      <p:sp>
        <p:nvSpPr>
          <p:cNvPr id="7" name="Rounded Rectangle 6"/>
          <p:cNvSpPr/>
          <p:nvPr/>
        </p:nvSpPr>
        <p:spPr>
          <a:xfrm>
            <a:off x="4389120" y="1737360"/>
            <a:ext cx="3383280" cy="3017520"/>
          </a:xfrm>
          <a:prstGeom prst="roundRect">
            <a:avLst/>
          </a:prstGeom>
          <a:solidFill>
            <a:srgbClr val="1E293B"/>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A78BFA"/>
                </a:solidFill>
              </a:defRPr>
            </a:pPr>
            <a:r>
              <a:t>2. COGNITIVE &amp; SAFE</a:t>
            </a:r>
          </a:p>
          <a:p>
            <a:pPr>
              <a:spcBef>
                <a:spcPts val="600"/>
              </a:spcBef>
              <a:defRPr sz="900">
                <a:solidFill>
                  <a:srgbClr val="E2E8F0"/>
                </a:solidFill>
              </a:defRPr>
            </a:pPr>
            <a:r>
              <a:t>• Combines Google Gemini 3.5 Lite cognitive reasoning with deterministic Zero-Shell policy boundaries.</a:t>
            </a:r>
            <a:br/>
            <a:r>
              <a:t>• Runbook RAG eliminates hallucinations.</a:t>
            </a:r>
            <a:br/>
            <a:r>
              <a:t>• Human-in-the-loop ensures critical actions require operator authorization.</a:t>
            </a:r>
          </a:p>
        </p:txBody>
      </p:sp>
      <p:sp>
        <p:nvSpPr>
          <p:cNvPr id="8" name="Rounded Rectangle 7"/>
          <p:cNvSpPr/>
          <p:nvPr/>
        </p:nvSpPr>
        <p:spPr>
          <a:xfrm>
            <a:off x="8046720" y="1737360"/>
            <a:ext cx="3383280" cy="30175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34D399"/>
                </a:solidFill>
              </a:defRPr>
            </a:pPr>
            <a:r>
              <a:t>3. EMPIRICAL RESULTS</a:t>
            </a:r>
          </a:p>
          <a:p>
            <a:pPr>
              <a:spcBef>
                <a:spcPts val="600"/>
              </a:spcBef>
              <a:defRPr sz="900">
                <a:solidFill>
                  <a:srgbClr val="E2E8F0"/>
                </a:solidFill>
              </a:defRPr>
            </a:pPr>
            <a:r>
              <a:t>• Reduces Mean Time to Resolve (MTTR) from 60+ minutes to &lt;15 seconds.</a:t>
            </a:r>
            <a:br/>
            <a:r>
              <a:t>• 36/36 unit tests verified passing.</a:t>
            </a:r>
            <a:br/>
            <a:r>
              <a:t>• Immutable SQLite 3 WAL audit ledger ensures complete accountability.</a:t>
            </a:r>
          </a:p>
        </p:txBody>
      </p:sp>
      <p:sp>
        <p:nvSpPr>
          <p:cNvPr id="9" name="Rounded Rectangle 8"/>
          <p:cNvSpPr/>
          <p:nvPr/>
        </p:nvSpPr>
        <p:spPr>
          <a:xfrm>
            <a:off x="731520" y="4937760"/>
            <a:ext cx="10698480" cy="1463040"/>
          </a:xfrm>
          <a:prstGeom prst="roundRect">
            <a:avLst/>
          </a:prstGeom>
          <a:solidFill>
            <a:srgbClr val="182235"/>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200">
                <a:solidFill>
                  <a:srgbClr val="38BDF8"/>
                </a:solidFill>
              </a:defRPr>
            </a:pPr>
            <a:r>
              <a:t>🎓 PROJECT DEFENSE SIGN-OFF &amp; OPEN FOR QUESTIONS (Q&amp;A)</a:t>
            </a:r>
          </a:p>
          <a:p>
            <a:pPr algn="ctr">
              <a:spcBef>
                <a:spcPts val="400"/>
              </a:spcBef>
              <a:defRPr sz="950">
                <a:solidFill>
                  <a:srgbClr val="E2E8F0"/>
                </a:solidFill>
              </a:defRPr>
            </a:pPr>
            <a:r>
              <a:t>AutoSRE proves that autonomous self-healing is not about giving AI open-ended shell access, but about wrapping cognitive models inside disciplined, multi-tier software architecture and finite state machines.</a:t>
            </a:r>
            <a:br/>
            <a:br/>
            <a:r>
              <a:t>Thank you, professors and evaluators! Questions &amp; Technical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