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professors and evaluators. Today I am presenting AutoSRE, an Autonomous DevOps and Site Reliability Engineering Control Plane. This project is evaluated specifically through the lens of Software Architecture and Design (SAD). We demonstrate how to transition from high-stress, error-prone manual 3 AM outage triage to an autonomous self-healing system using rigorous 5-tier layered architecture, finite state machines, and safe AI reasoning.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structure the core idea and uniqueness using the exact visual approach from our reference designs. On the left, we detail how we manage cloud reliability complexity through a 3-phase reflex: Sense, Ground, and Guard. On the right, we highlight our 4 key architectural differentiators: sub-15-second MTTR, Zero-Shell security boundaries, explainable AI citations, and our immutable audit ledger.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establish the core foundation of Software Architecture &amp; Design: Layered Architecture. Without architecture, systems become a spaghetti monolith where UI handlers run shell commands directly. AutoSRE enforces 5 distinct tiers. Notice that Tier 3 (Cognitive AI) formulates plans, but only Tier 4 (Policy Gatekeeper) has the authority to execute container actions after strict allowlist validation.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follows the exact technical approach layout from Reference Image 2. On the left, we showcase our 5-stage AI intelligence processing pipeline, complete with tech stack badges. On the right, we show the end-to-end runtime architecture diagram illustrating how user requests, control gateway, LangGraph state machine, policy gatekeeper, and monitored services interact.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Software Architecture and Design, evaluating architectural styles and patterns is paramount. Here we document the 8 core patterns implemented in our codebase. Notice how each pattern directly solves an operational risk: the Gatekeeper eliminates AI execution hazards, the Strategy pattern guarantees 100% control plane uptime during network outages, and the Observer pattern keeps telemetry collection non-invasive.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Behavioral modeling shows how the system dynamically responds to failures. AutoSRE uses LangGraph to define an 8-node Finite State Machine. Unlike unconstrained LLM loops that can run endlessly, an FSM guarantees deterministic transitions, bounded retries, and clean human pause states for high-blast-radius targets.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academic SAD evaluations, professors examine whether design decisions were deliberate. Here we show that our architecture satisfies critical Quality Attributes like Availability (MTTR &lt;15s), Security (Zero-Shell), Performance (&lt;8ms ML), and Modularity. Our 5 ADRs document the explicit rationale, trade-offs, and discarded alternatives for every major subsystem.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showcase the actual operational cockpit implemented in our system. Top-left (Fig 1) shows the Incident War Room with Google Gemini 3.5 Flash Lite root-cause analysis. Top-right (Fig 2) shows the SVG topology mesh with real-time node latencies. Bottom-left (Fig 3) shows dynamic endpoint discovery. Bottom-right (Fig 4) shows our Chaos Lab, which allows live injection of connection leaks and memory spikes during demonstrations.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our actual end-to-end case study: resolving a payment-service database connection pool exhaustion incident. In a traditional setup, this incident causes 45+ minutes of downtime while engineers dig through logs. AutoSRE completes all 9 steps in just 11.4 seconds, achieving a 99.6% reduction in Mean Time to Resolve.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final slide, we illustrate the project's impact and benefits using the exact layout from Reference Image 3. On the left, alternating pill badges detail our core technological impact: instant anomaly discovery, grounded RAG, Zero-Shell boundaries, and sub-15s MTTR. On the right, a star-topology stakeholder mindmap demonstrates how AutoSRE delivers tangible value to SRE engineers, developers, business stakeholders, and compliance officers. Thank you, professors and evaluators! I am now ready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10728655" cy="5760720"/>
          </a:xfrm>
          <a:prstGeom prst="roundRect">
            <a:avLst/>
          </a:prstGeom>
          <a:solidFill>
            <a:srgbClr val="FFFAF0"/>
          </a:solidFill>
          <a:ln w="254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868680"/>
            <a:ext cx="5303520" cy="411480"/>
          </a:xfrm>
          <a:prstGeom prst="roundRect">
            <a:avLst/>
          </a:prstGeom>
          <a:solidFill>
            <a:srgbClr val="F0F7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Segoe UI"/>
              </a:defRPr>
            </a:pPr>
            <a:r>
              <a:t>🎓 SOFTWARE ARCHITECTURE &amp; DESIGN (SAD) • PROJECT DEFENSE</a:t>
            </a:r>
          </a:p>
        </p:txBody>
      </p:sp>
      <p:sp>
        <p:nvSpPr>
          <p:cNvPr id="5" name="TextBox 4"/>
          <p:cNvSpPr txBox="1"/>
          <p:nvPr/>
        </p:nvSpPr>
        <p:spPr>
          <a:xfrm>
            <a:off x="1097280" y="1417320"/>
            <a:ext cx="10058400" cy="1371600"/>
          </a:xfrm>
          <a:prstGeom prst="rect">
            <a:avLst/>
          </a:prstGeom>
          <a:noFill/>
        </p:spPr>
        <p:txBody>
          <a:bodyPr wrap="square">
            <a:spAutoFit/>
          </a:bodyPr>
          <a:lstStyle/>
          <a:p>
            <a:pPr>
              <a:defRPr sz="3000" b="1">
                <a:solidFill>
                  <a:srgbClr val="0F172A"/>
                </a:solidFill>
                <a:latin typeface="Georgia"/>
              </a:defRPr>
            </a:pPr>
            <a:r>
              <a:t>AUTOSRE: AUTONOMOUS SRE CONTROL PLANE</a:t>
            </a:r>
          </a:p>
          <a:p>
            <a:pPr>
              <a:spcBef>
                <a:spcPts val="600"/>
              </a:spcBef>
              <a:defRPr sz="1400">
                <a:solidFill>
                  <a:srgbClr val="2563EB"/>
                </a:solidFill>
                <a:latin typeface="Segoe UI"/>
              </a:defRPr>
            </a:pPr>
            <a:r>
              <a:t>Multi-Tier Layered Architecture, Finite State Machine &amp; Cognitive Self-Healing for Cloud Microservices</a:t>
            </a:r>
          </a:p>
        </p:txBody>
      </p:sp>
      <p:sp>
        <p:nvSpPr>
          <p:cNvPr id="6" name="TextBox 5"/>
          <p:cNvSpPr txBox="1"/>
          <p:nvPr/>
        </p:nvSpPr>
        <p:spPr>
          <a:xfrm>
            <a:off x="1097280" y="2651760"/>
            <a:ext cx="9875520" cy="731520"/>
          </a:xfrm>
          <a:prstGeom prst="rect">
            <a:avLst/>
          </a:prstGeom>
          <a:noFill/>
        </p:spPr>
        <p:txBody>
          <a:bodyPr wrap="square">
            <a:spAutoFit/>
          </a:bodyPr>
          <a:lstStyle/>
          <a:p>
            <a:pPr>
              <a:defRPr sz="1050">
                <a:solidFill>
                  <a:srgbClr val="334155"/>
                </a:solidFill>
                <a:latin typeface="Segoe UI"/>
              </a:defRPr>
            </a:pPr>
            <a:r>
              <a:t>A production-grade autonomous site reliability engineering system evaluated under Software Architecture &amp; Design. Featuring 5-tier layered separation of concerns, 8-node LangGraph finite state machine, Drain+Isolation Forest unsupervised log anomaly detection, grounded TF-IDF runbook RAG, and deterministic Zero-Shell security boundaries.</a:t>
            </a:r>
          </a:p>
        </p:txBody>
      </p:sp>
      <p:sp>
        <p:nvSpPr>
          <p:cNvPr id="7" name="Rounded Rectangle 6"/>
          <p:cNvSpPr/>
          <p:nvPr/>
        </p:nvSpPr>
        <p:spPr>
          <a:xfrm>
            <a:off x="1097280" y="3566160"/>
            <a:ext cx="3154680" cy="23317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b="1" sz="1100">
                <a:solidFill>
                  <a:srgbClr val="2563EB"/>
                </a:solidFill>
                <a:latin typeface="Segoe UI"/>
              </a:defRPr>
            </a:pPr>
            <a:r>
              <a:t>🏛️ 5-TIER LAYERED ARCHITECTURE</a:t>
            </a:r>
          </a:p>
          <a:p>
            <a:pPr>
              <a:spcBef>
                <a:spcPts val="600"/>
              </a:spcBef>
              <a:defRPr sz="900">
                <a:solidFill>
                  <a:srgbClr val="334155"/>
                </a:solidFill>
              </a:defRPr>
            </a:pPr>
            <a:r>
              <a:t>• Separation of Concerns (SoC) across 5 tiers</a:t>
            </a:r>
            <a:br/>
            <a:r>
              <a:t>• Presentation, API Gateway, AI, Policy, DB</a:t>
            </a:r>
            <a:br/>
            <a:r>
              <a:t>• Eliminates the Spaghetti Monolith anti-pattern</a:t>
            </a:r>
            <a:br/>
            <a:r>
              <a:t>• Blast radius isolation: crashes in payment service never affect user auth or control plane</a:t>
            </a:r>
          </a:p>
        </p:txBody>
      </p:sp>
      <p:sp>
        <p:nvSpPr>
          <p:cNvPr id="8" name="Rounded Rectangle 7"/>
          <p:cNvSpPr/>
          <p:nvPr/>
        </p:nvSpPr>
        <p:spPr>
          <a:xfrm>
            <a:off x="4480560" y="3566160"/>
            <a:ext cx="3154680" cy="233172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b="1" sz="1100">
                <a:solidFill>
                  <a:srgbClr val="6D28D9"/>
                </a:solidFill>
                <a:latin typeface="Segoe UI"/>
              </a:defRPr>
            </a:pPr>
            <a:r>
              <a:t>🧠 8-NODE LANGGRAPH FSM</a:t>
            </a:r>
          </a:p>
          <a:p>
            <a:pPr>
              <a:spcBef>
                <a:spcPts val="600"/>
              </a:spcBef>
              <a:defRPr sz="900">
                <a:solidFill>
                  <a:srgbClr val="334155"/>
                </a:solidFill>
              </a:defRPr>
            </a:pPr>
            <a:r>
              <a:t>• Autonomous Sense-Plan-Act reflex arc</a:t>
            </a:r>
            <a:br/>
            <a:r>
              <a:t>• Drain regex log parsing + Isolation Forest (&lt;8ms)</a:t>
            </a:r>
            <a:br/>
            <a:r>
              <a:t>• Grounded TF-IDF Markdown Runbook RAG</a:t>
            </a:r>
            <a:br/>
            <a:r>
              <a:t>• Google Gemini 3.5 Flash Lite cognitive RCA</a:t>
            </a:r>
            <a:br/>
            <a:r>
              <a:t>• Pause-for-human gate for protected services</a:t>
            </a:r>
          </a:p>
        </p:txBody>
      </p:sp>
      <p:sp>
        <p:nvSpPr>
          <p:cNvPr id="9" name="Rounded Rectangle 8"/>
          <p:cNvSpPr/>
          <p:nvPr/>
        </p:nvSpPr>
        <p:spPr>
          <a:xfrm>
            <a:off x="7863840" y="3566160"/>
            <a:ext cx="3154680" cy="233172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b="1" sz="1100">
                <a:solidFill>
                  <a:srgbClr val="0D9488"/>
                </a:solidFill>
                <a:latin typeface="Segoe UI"/>
              </a:defRPr>
            </a:pPr>
            <a:r>
              <a:t>🛡️ EMPIRICAL VERIFICATION &amp; SAFETY</a:t>
            </a:r>
          </a:p>
          <a:p>
            <a:pPr>
              <a:spcBef>
                <a:spcPts val="600"/>
              </a:spcBef>
              <a:defRPr sz="900">
                <a:solidFill>
                  <a:srgbClr val="334155"/>
                </a:solidFill>
              </a:defRPr>
            </a:pPr>
            <a:r>
              <a:t>• 36/36 Unit Tests Passing (100% pass rate)</a:t>
            </a:r>
            <a:br/>
            <a:r>
              <a:t>• Zero-Shell boundary blocks all raw bash shells</a:t>
            </a:r>
            <a:br/>
            <a:r>
              <a:t>• Reduces MTTR from 60+ minutes to &lt;15 seconds</a:t>
            </a:r>
            <a:br/>
            <a:r>
              <a:t>• SQLite 3 WAL Mode immutable audit ledger</a:t>
            </a:r>
            <a:br/>
            <a:r>
              <a:t>• Clean separation from target client apps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2560320" cy="411480"/>
          </a:xfrm>
          <a:prstGeom prst="rect">
            <a:avLst/>
          </a:prstGeom>
          <a:noFill/>
        </p:spPr>
        <p:txBody>
          <a:bodyPr wrap="none" lIns="0" tIns="0">
            <a:spAutoFit/>
          </a:bodyPr>
          <a:lstStyle/>
          <a:p>
            <a:r>
              <a:rPr sz="1400" b="1">
                <a:solidFill>
                  <a:srgbClr val="2563EB"/>
                </a:solidFill>
                <a:latin typeface="Segoe UI"/>
              </a:rPr>
              <a:t>Auto</a:t>
            </a:r>
            <a:r>
              <a:rPr sz="1400" b="1">
                <a:solidFill>
                  <a:srgbClr val="0EA5E9"/>
                </a:solidFill>
                <a:latin typeface="Segoe UI"/>
              </a:rPr>
              <a:t>SRE</a:t>
            </a:r>
            <a:r>
              <a:rPr sz="1100" b="1">
                <a:solidFill>
                  <a:srgbClr val="64748B"/>
                </a:solidFill>
                <a:latin typeface="Segoe UI"/>
              </a:rPr>
              <a:t> // SAD</a:t>
            </a:r>
          </a:p>
        </p:txBody>
      </p:sp>
      <p:sp>
        <p:nvSpPr>
          <p:cNvPr id="4" name="TextBox 3"/>
          <p:cNvSpPr txBox="1"/>
          <p:nvPr/>
        </p:nvSpPr>
        <p:spPr>
          <a:xfrm>
            <a:off x="3108960" y="256032"/>
            <a:ext cx="5943600" cy="548640"/>
          </a:xfrm>
          <a:prstGeom prst="rect">
            <a:avLst/>
          </a:prstGeom>
          <a:noFill/>
        </p:spPr>
        <p:txBody>
          <a:bodyPr wrap="none" lIns="0" tIns="0">
            <a:spAutoFit/>
          </a:bodyPr>
          <a:lstStyle/>
          <a:p>
            <a:pPr algn="ctr">
              <a:defRPr sz="2100" b="1">
                <a:solidFill>
                  <a:srgbClr val="0F172A"/>
                </a:solidFill>
                <a:latin typeface="Georgia"/>
              </a:defRPr>
            </a:pPr>
            <a:r>
              <a:t>IDEA / SOLUTION &amp; UNIQUENESS</a:t>
            </a:r>
          </a:p>
        </p:txBody>
      </p:sp>
      <p:sp>
        <p:nvSpPr>
          <p:cNvPr id="5" name="Rounded Rectangle 4"/>
          <p:cNvSpPr/>
          <p:nvPr/>
        </p:nvSpPr>
        <p:spPr>
          <a:xfrm>
            <a:off x="9235440" y="292608"/>
            <a:ext cx="2194560" cy="384048"/>
          </a:xfrm>
          <a:prstGeom prst="roundRect">
            <a:avLst/>
          </a:prstGeom>
          <a:solidFill>
            <a:srgbClr val="F0F7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2563EB"/>
                </a:solidFill>
                <a:latin typeface="Segoe UI"/>
              </a:defRPr>
            </a:pPr>
            <a:r>
              <a:t>SAD ACADEMIC DEFENSE 2026</a:t>
            </a:r>
          </a:p>
        </p:txBody>
      </p:sp>
      <p:sp>
        <p:nvSpPr>
          <p:cNvPr id="6" name="Rounded Rectangle 5"/>
          <p:cNvSpPr/>
          <p:nvPr/>
        </p:nvSpPr>
        <p:spPr>
          <a:xfrm>
            <a:off x="731520" y="1051560"/>
            <a:ext cx="5212080" cy="5349240"/>
          </a:xfrm>
          <a:prstGeom prst="roundRect">
            <a:avLst/>
          </a:prstGeom>
          <a:solidFill>
            <a:srgbClr val="FFFAF0"/>
          </a:solidFill>
          <a:ln w="254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188720"/>
            <a:ext cx="4846320" cy="457200"/>
          </a:xfrm>
          <a:prstGeom prst="rect">
            <a:avLst/>
          </a:prstGeom>
          <a:noFill/>
        </p:spPr>
        <p:txBody>
          <a:bodyPr wrap="none">
            <a:spAutoFit/>
          </a:bodyPr>
          <a:lstStyle/>
          <a:p>
            <a:pPr>
              <a:defRPr b="1" sz="1600">
                <a:solidFill>
                  <a:srgbClr val="2563EB"/>
                </a:solidFill>
                <a:latin typeface="Georgia"/>
              </a:defRPr>
            </a:pPr>
            <a:r>
              <a:t>IDEA / SOLUTION :</a:t>
            </a:r>
          </a:p>
        </p:txBody>
      </p:sp>
      <p:sp>
        <p:nvSpPr>
          <p:cNvPr id="8" name="Rounded Rectangle 7"/>
          <p:cNvSpPr/>
          <p:nvPr/>
        </p:nvSpPr>
        <p:spPr>
          <a:xfrm>
            <a:off x="1645920" y="1645920"/>
            <a:ext cx="3383280" cy="32004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D97706"/>
                </a:solidFill>
                <a:latin typeface="Segoe UI"/>
              </a:defRPr>
            </a:pPr>
            <a:r>
              <a:t>How We Handle Complexity in Cloud Reliability</a:t>
            </a:r>
          </a:p>
        </p:txBody>
      </p:sp>
      <p:sp>
        <p:nvSpPr>
          <p:cNvPr id="9" name="Rounded Rectangle 8"/>
          <p:cNvSpPr/>
          <p:nvPr/>
        </p:nvSpPr>
        <p:spPr>
          <a:xfrm>
            <a:off x="914400" y="2103120"/>
            <a:ext cx="4846320" cy="7772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b="1" sz="950">
                <a:solidFill>
                  <a:srgbClr val="2563EB"/>
                </a:solidFill>
                <a:latin typeface="Segoe UI"/>
              </a:defRPr>
            </a:pPr>
            <a:r>
              <a:t>SENSE &amp; DETECT</a:t>
            </a:r>
          </a:p>
          <a:p>
            <a:pPr>
              <a:spcBef>
                <a:spcPts val="200"/>
              </a:spcBef>
              <a:defRPr sz="800">
                <a:solidFill>
                  <a:srgbClr val="334155"/>
                </a:solidFill>
              </a:defRPr>
            </a:pPr>
            <a:r>
              <a:t>Prometheus scraper continuously monitors /metrics. Drain regex parser and Isolation Forest detect anomalies in &lt;8ms.</a:t>
            </a:r>
          </a:p>
        </p:txBody>
      </p:sp>
      <p:sp>
        <p:nvSpPr>
          <p:cNvPr id="10" name="Rounded Rectangle 9"/>
          <p:cNvSpPr/>
          <p:nvPr/>
        </p:nvSpPr>
        <p:spPr>
          <a:xfrm>
            <a:off x="914400" y="2971800"/>
            <a:ext cx="4846320" cy="7772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b="1" sz="950">
                <a:solidFill>
                  <a:srgbClr val="2563EB"/>
                </a:solidFill>
                <a:latin typeface="Segoe UI"/>
              </a:defRPr>
            </a:pPr>
            <a:r>
              <a:t>GROUND &amp; PLAN</a:t>
            </a:r>
          </a:p>
          <a:p>
            <a:pPr>
              <a:spcBef>
                <a:spcPts val="200"/>
              </a:spcBef>
              <a:defRPr sz="800">
                <a:solidFill>
                  <a:srgbClr val="334155"/>
                </a:solidFill>
              </a:defRPr>
            </a:pPr>
            <a:r>
              <a:t>Retrieves verified Markdown runbooks via TF-IDF cosine similarity. Gemini 3.5 Lite reasons on root cause with zero hallucinations.</a:t>
            </a:r>
          </a:p>
        </p:txBody>
      </p:sp>
      <p:sp>
        <p:nvSpPr>
          <p:cNvPr id="11" name="Rounded Rectangle 10"/>
          <p:cNvSpPr/>
          <p:nvPr/>
        </p:nvSpPr>
        <p:spPr>
          <a:xfrm>
            <a:off x="914400" y="3840480"/>
            <a:ext cx="4846320" cy="7772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b="1" sz="950">
                <a:solidFill>
                  <a:srgbClr val="2563EB"/>
                </a:solidFill>
                <a:latin typeface="Segoe UI"/>
              </a:defRPr>
            </a:pPr>
            <a:r>
              <a:t>GUARD &amp; HEAL</a:t>
            </a:r>
          </a:p>
          <a:p>
            <a:pPr>
              <a:spcBef>
                <a:spcPts val="200"/>
              </a:spcBef>
              <a:defRPr sz="800">
                <a:solidFill>
                  <a:srgbClr val="334155"/>
                </a:solidFill>
              </a:defRPr>
            </a:pPr>
            <a:r>
              <a:t>Zero-Shell policy gatekeeper checks action allowlist. Executes safe Docker/K8s remediation and verifies health.</a:t>
            </a:r>
          </a:p>
        </p:txBody>
      </p:sp>
      <p:sp>
        <p:nvSpPr>
          <p:cNvPr id="12" name="Rounded Rectangle 11"/>
          <p:cNvSpPr/>
          <p:nvPr/>
        </p:nvSpPr>
        <p:spPr>
          <a:xfrm>
            <a:off x="914400" y="4754880"/>
            <a:ext cx="4846320" cy="146304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b="1" sz="950">
                <a:solidFill>
                  <a:srgbClr val="D97706"/>
                </a:solidFill>
              </a:defRPr>
            </a:pPr>
            <a:r>
              <a:t>🔄 THE AUTONOMOUS SRE REFLEX CYCLE:</a:t>
            </a:r>
          </a:p>
          <a:p>
            <a:pPr>
              <a:spcBef>
                <a:spcPts val="300"/>
              </a:spcBef>
              <a:defRPr sz="850">
                <a:solidFill>
                  <a:srgbClr val="334155"/>
                </a:solidFill>
              </a:defRPr>
            </a:pPr>
            <a:r>
              <a:t>1. SENSE (Prometheus /metrics + Drain log parser anomaly scoring)</a:t>
            </a:r>
            <a:br/>
            <a:r>
              <a:t>2. PLAN (Retrieve SRE runbook RAG + Gemini 3.5 Lite structured RCA)</a:t>
            </a:r>
            <a:br/>
            <a:r>
              <a:t>3. ACT &amp; VERIFY (Zero-Shell Policy Gate -&gt; Docker Restart -&gt; /health probe 200 OK)</a:t>
            </a:r>
          </a:p>
        </p:txBody>
      </p:sp>
      <p:sp>
        <p:nvSpPr>
          <p:cNvPr id="13" name="Rounded Rectangle 12"/>
          <p:cNvSpPr/>
          <p:nvPr/>
        </p:nvSpPr>
        <p:spPr>
          <a:xfrm>
            <a:off x="6217920" y="1051560"/>
            <a:ext cx="5212080" cy="5349240"/>
          </a:xfrm>
          <a:prstGeom prst="roundRect">
            <a:avLst/>
          </a:prstGeom>
          <a:solidFill>
            <a:srgbClr val="F2F9F6"/>
          </a:solidFill>
          <a:ln w="254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188720"/>
            <a:ext cx="4846320" cy="457200"/>
          </a:xfrm>
          <a:prstGeom prst="rect">
            <a:avLst/>
          </a:prstGeom>
          <a:noFill/>
        </p:spPr>
        <p:txBody>
          <a:bodyPr wrap="none">
            <a:spAutoFit/>
          </a:bodyPr>
          <a:lstStyle/>
          <a:p>
            <a:pPr>
              <a:defRPr b="1" sz="1600">
                <a:solidFill>
                  <a:srgbClr val="2563EB"/>
                </a:solidFill>
                <a:latin typeface="Georgia"/>
              </a:defRPr>
            </a:pPr>
            <a:r>
              <a:t>UNIQUENESS :</a:t>
            </a:r>
          </a:p>
        </p:txBody>
      </p:sp>
      <p:sp>
        <p:nvSpPr>
          <p:cNvPr id="15" name="Rounded Rectangle 14"/>
          <p:cNvSpPr/>
          <p:nvPr/>
        </p:nvSpPr>
        <p:spPr>
          <a:xfrm>
            <a:off x="6400800" y="1691640"/>
            <a:ext cx="4846320" cy="7772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b="1" sz="950">
                <a:solidFill>
                  <a:srgbClr val="2563EB"/>
                </a:solidFill>
              </a:defRPr>
            </a:pPr>
            <a:r>
              <a:t>Target Monitored Fleet  ⟷  AutoSRE Control Plane Boundary</a:t>
            </a:r>
          </a:p>
          <a:p>
            <a:pPr algn="ctr">
              <a:spcBef>
                <a:spcPts val="200"/>
              </a:spcBef>
              <a:defRPr sz="800">
                <a:solidFill>
                  <a:srgbClr val="334155"/>
                </a:solidFill>
              </a:defRPr>
            </a:pPr>
            <a:r>
              <a:t>Non-invasive observation via standard HTTP (/metrics, /health, /logs). Zero code coupling; target application business logic is never modified.</a:t>
            </a:r>
          </a:p>
        </p:txBody>
      </p:sp>
      <p:sp>
        <p:nvSpPr>
          <p:cNvPr id="16" name="Rounded Rectangle 15"/>
          <p:cNvSpPr/>
          <p:nvPr/>
        </p:nvSpPr>
        <p:spPr>
          <a:xfrm>
            <a:off x="6400800" y="2606040"/>
            <a:ext cx="2377440" cy="914400"/>
          </a:xfrm>
          <a:prstGeom prst="roundRect">
            <a:avLst/>
          </a:prstGeom>
          <a:solidFill>
            <a:srgbClr val="FFFFF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0D9488"/>
                </a:solidFill>
              </a:defRPr>
            </a:pPr>
            <a:r>
              <a:t>SUB-15S MTTR</a:t>
            </a:r>
          </a:p>
          <a:p>
            <a:pPr>
              <a:spcBef>
                <a:spcPts val="200"/>
              </a:spcBef>
              <a:defRPr sz="750">
                <a:solidFill>
                  <a:srgbClr val="334155"/>
                </a:solidFill>
              </a:defRPr>
            </a:pPr>
            <a:r>
              <a:t>Reduces Mean Time to Resolve from 60+ minutes to &lt;15s with automated end-to-end closed-loop healing.</a:t>
            </a:r>
          </a:p>
        </p:txBody>
      </p:sp>
      <p:sp>
        <p:nvSpPr>
          <p:cNvPr id="17" name="Rounded Rectangle 16"/>
          <p:cNvSpPr/>
          <p:nvPr/>
        </p:nvSpPr>
        <p:spPr>
          <a:xfrm>
            <a:off x="8869680" y="2606040"/>
            <a:ext cx="2377440" cy="914400"/>
          </a:xfrm>
          <a:prstGeom prst="roundRect">
            <a:avLst/>
          </a:prstGeom>
          <a:solidFill>
            <a:srgbClr val="FFFFF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0D9488"/>
                </a:solidFill>
              </a:defRPr>
            </a:pPr>
            <a:r>
              <a:t>ZERO-SHELL BOUNDARY</a:t>
            </a:r>
          </a:p>
          <a:p>
            <a:pPr>
              <a:spcBef>
                <a:spcPts val="200"/>
              </a:spcBef>
              <a:defRPr sz="750">
                <a:solidFill>
                  <a:srgbClr val="334155"/>
                </a:solidFill>
              </a:defRPr>
            </a:pPr>
            <a:r>
              <a:t>Mathematically eliminates destructive AI hallucinations by enforcing a strict allowlist (no raw bash).</a:t>
            </a:r>
          </a:p>
        </p:txBody>
      </p:sp>
      <p:sp>
        <p:nvSpPr>
          <p:cNvPr id="18" name="Rounded Rectangle 17"/>
          <p:cNvSpPr/>
          <p:nvPr/>
        </p:nvSpPr>
        <p:spPr>
          <a:xfrm>
            <a:off x="6400800" y="3611880"/>
            <a:ext cx="2377440" cy="914400"/>
          </a:xfrm>
          <a:prstGeom prst="roundRect">
            <a:avLst/>
          </a:prstGeom>
          <a:solidFill>
            <a:srgbClr val="FFFFF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0D9488"/>
                </a:solidFill>
              </a:defRPr>
            </a:pPr>
            <a:r>
              <a:t>EXPLAINABLE AI (XAI)</a:t>
            </a:r>
          </a:p>
          <a:p>
            <a:pPr>
              <a:spcBef>
                <a:spcPts val="200"/>
              </a:spcBef>
              <a:defRPr sz="750">
                <a:solidFill>
                  <a:srgbClr val="334155"/>
                </a:solidFill>
              </a:defRPr>
            </a:pPr>
            <a:r>
              <a:t>Every root cause diagnosis cites exact runbook Markdown sections and outputs confidence scores (0.0 to 1.0).</a:t>
            </a:r>
          </a:p>
        </p:txBody>
      </p:sp>
      <p:sp>
        <p:nvSpPr>
          <p:cNvPr id="19" name="Rounded Rectangle 18"/>
          <p:cNvSpPr/>
          <p:nvPr/>
        </p:nvSpPr>
        <p:spPr>
          <a:xfrm>
            <a:off x="8869680" y="3611880"/>
            <a:ext cx="2377440" cy="914400"/>
          </a:xfrm>
          <a:prstGeom prst="roundRect">
            <a:avLst/>
          </a:prstGeom>
          <a:solidFill>
            <a:srgbClr val="FFFFF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0D9488"/>
                </a:solidFill>
              </a:defRPr>
            </a:pPr>
            <a:r>
              <a:t>IMMUTABLE LEDGER</a:t>
            </a:r>
          </a:p>
          <a:p>
            <a:pPr>
              <a:spcBef>
                <a:spcPts val="200"/>
              </a:spcBef>
              <a:defRPr sz="750">
                <a:solidFill>
                  <a:srgbClr val="334155"/>
                </a:solidFill>
              </a:defRPr>
            </a:pPr>
            <a:r>
              <a:t>SQLite 3 WAL database records every incident, AI prompt, operator approval, and container action for audit.</a:t>
            </a:r>
          </a:p>
        </p:txBody>
      </p:sp>
      <p:sp>
        <p:nvSpPr>
          <p:cNvPr id="20" name="Rounded Rectangle 19"/>
          <p:cNvSpPr/>
          <p:nvPr/>
        </p:nvSpPr>
        <p:spPr>
          <a:xfrm>
            <a:off x="6400800" y="4663440"/>
            <a:ext cx="4846320" cy="1554480"/>
          </a:xfrm>
          <a:prstGeom prst="roundRect">
            <a:avLst/>
          </a:prstGeom>
          <a:solidFill>
            <a:srgbClr val="FFFFFF"/>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b="1" sz="950">
                <a:solidFill>
                  <a:srgbClr val="6D28D9"/>
                </a:solidFill>
              </a:defRPr>
            </a:pPr>
            <a:r>
              <a:t>💡 REAL-WORLD ANALOGY: THE INTELLIGENT ICU MONITOR</a:t>
            </a:r>
          </a:p>
          <a:p>
            <a:pPr>
              <a:spcBef>
                <a:spcPts val="300"/>
              </a:spcBef>
              <a:defRPr sz="850">
                <a:solidFill>
                  <a:srgbClr val="334155"/>
                </a:solidFill>
              </a:defRPr>
            </a:pPr>
            <a:r>
              <a:t>When an ICU patient's vitals crash at 3 AM, waiting 45 minutes to wake a doctor to read pharmacology manuals could be fatal. AutoSRE acts as an intelligent ICU monitor: it continuously senses vitals (metrics), diagnoses the arrhythmia (Gemini RCA), checks dosage limits (Zero-Shell Gate), and administers corrective action in 10 seconds!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2560320" cy="411480"/>
          </a:xfrm>
          <a:prstGeom prst="rect">
            <a:avLst/>
          </a:prstGeom>
          <a:noFill/>
        </p:spPr>
        <p:txBody>
          <a:bodyPr wrap="none" lIns="0" tIns="0">
            <a:spAutoFit/>
          </a:bodyPr>
          <a:lstStyle/>
          <a:p>
            <a:r>
              <a:rPr sz="1400" b="1">
                <a:solidFill>
                  <a:srgbClr val="2563EB"/>
                </a:solidFill>
                <a:latin typeface="Segoe UI"/>
              </a:rPr>
              <a:t>Auto</a:t>
            </a:r>
            <a:r>
              <a:rPr sz="1400" b="1">
                <a:solidFill>
                  <a:srgbClr val="0EA5E9"/>
                </a:solidFill>
                <a:latin typeface="Segoe UI"/>
              </a:rPr>
              <a:t>SRE</a:t>
            </a:r>
            <a:r>
              <a:rPr sz="1100" b="1">
                <a:solidFill>
                  <a:srgbClr val="64748B"/>
                </a:solidFill>
                <a:latin typeface="Segoe UI"/>
              </a:rPr>
              <a:t> // SAD</a:t>
            </a:r>
          </a:p>
        </p:txBody>
      </p:sp>
      <p:sp>
        <p:nvSpPr>
          <p:cNvPr id="4" name="TextBox 3"/>
          <p:cNvSpPr txBox="1"/>
          <p:nvPr/>
        </p:nvSpPr>
        <p:spPr>
          <a:xfrm>
            <a:off x="3108960" y="256032"/>
            <a:ext cx="5943600" cy="548640"/>
          </a:xfrm>
          <a:prstGeom prst="rect">
            <a:avLst/>
          </a:prstGeom>
          <a:noFill/>
        </p:spPr>
        <p:txBody>
          <a:bodyPr wrap="none" lIns="0" tIns="0">
            <a:spAutoFit/>
          </a:bodyPr>
          <a:lstStyle/>
          <a:p>
            <a:pPr algn="ctr">
              <a:defRPr sz="2100" b="1">
                <a:solidFill>
                  <a:srgbClr val="0F172A"/>
                </a:solidFill>
                <a:latin typeface="Georgia"/>
              </a:defRPr>
            </a:pPr>
            <a:r>
              <a:t>FOUNDATIONS: LAYERED ARCHITECTURE &amp; 5-TIER BLUEPRINT</a:t>
            </a:r>
          </a:p>
        </p:txBody>
      </p:sp>
      <p:sp>
        <p:nvSpPr>
          <p:cNvPr id="5" name="Rounded Rectangle 4"/>
          <p:cNvSpPr/>
          <p:nvPr/>
        </p:nvSpPr>
        <p:spPr>
          <a:xfrm>
            <a:off x="9235440" y="292608"/>
            <a:ext cx="2194560" cy="384048"/>
          </a:xfrm>
          <a:prstGeom prst="roundRect">
            <a:avLst/>
          </a:prstGeom>
          <a:solidFill>
            <a:srgbClr val="F0F7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2563EB"/>
                </a:solidFill>
                <a:latin typeface="Segoe UI"/>
              </a:defRPr>
            </a:pPr>
            <a:r>
              <a:t>SAD ACADEMIC DEFENSE 2026</a:t>
            </a:r>
          </a:p>
        </p:txBody>
      </p:sp>
      <p:sp>
        <p:nvSpPr>
          <p:cNvPr id="6" name="Rounded Rectangle 5"/>
          <p:cNvSpPr/>
          <p:nvPr/>
        </p:nvSpPr>
        <p:spPr>
          <a:xfrm>
            <a:off x="731520" y="1051560"/>
            <a:ext cx="5212080" cy="1508760"/>
          </a:xfrm>
          <a:prstGeom prst="roundRect">
            <a:avLst/>
          </a:prstGeom>
          <a:solidFill>
            <a:srgbClr val="FFFAF0"/>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b="1" sz="950">
                <a:solidFill>
                  <a:srgbClr val="D97706"/>
                </a:solidFill>
              </a:defRPr>
            </a:pPr>
            <a:r>
              <a:t>⚠️ THE ANTI-PATTERN: SPAGHETTI MONOLITH ('BIG BALL OF MUD')</a:t>
            </a:r>
          </a:p>
          <a:p>
            <a:pPr>
              <a:spcBef>
                <a:spcPts val="200"/>
              </a:spcBef>
              <a:defRPr sz="800">
                <a:solidFill>
                  <a:srgbClr val="334155"/>
                </a:solidFill>
              </a:defRPr>
            </a:pPr>
            <a:r>
              <a:t>• Without architecture, UI buttons directly trigger SQL database queries and run bash scripts.</a:t>
            </a:r>
            <a:br/>
            <a:r>
              <a:t>• Tight coupling: a CSS bug can wipe disk files; testing in isolation is completely impossible.</a:t>
            </a:r>
            <a:br/>
            <a:r>
              <a:t>• Uncontained blast radius: an unconstrained LLM will eventually hallucinate 'rm -rf /'.</a:t>
            </a:r>
          </a:p>
        </p:txBody>
      </p:sp>
      <p:sp>
        <p:nvSpPr>
          <p:cNvPr id="7" name="Rounded Rectangle 6"/>
          <p:cNvSpPr/>
          <p:nvPr/>
        </p:nvSpPr>
        <p:spPr>
          <a:xfrm>
            <a:off x="6217920" y="1051560"/>
            <a:ext cx="5212080" cy="1508760"/>
          </a:xfrm>
          <a:prstGeom prst="roundRect">
            <a:avLst/>
          </a:prstGeom>
          <a:solidFill>
            <a:srgbClr val="F0F7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b="1" sz="950">
                <a:solidFill>
                  <a:srgbClr val="2563EB"/>
                </a:solidFill>
              </a:defRPr>
            </a:pPr>
            <a:r>
              <a:t>🛡️ THE ARCHITECTURAL SOLUTION: SEPARATION OF CONCERNS (SoC)</a:t>
            </a:r>
          </a:p>
          <a:p>
            <a:pPr>
              <a:spcBef>
                <a:spcPts val="200"/>
              </a:spcBef>
              <a:defRPr sz="800">
                <a:solidFill>
                  <a:srgbClr val="334155"/>
                </a:solidFill>
              </a:defRPr>
            </a:pPr>
            <a:r>
              <a:t>• System is partitioned into 5 independent horizontal tiers with strict boundary interfaces.</a:t>
            </a:r>
            <a:br/>
            <a:r>
              <a:t>• Rule: Each layer only communicates with adjacent layers; UI never talks directly to DB.</a:t>
            </a:r>
            <a:br/>
            <a:r>
              <a:t>• Restaurant Analogy: Customer (UI) -&gt; Waiter (API) -&gt; Chef (AI Brain) -&gt; Inspector (Policy) -&gt; Pantry (DB).</a:t>
            </a:r>
          </a:p>
        </p:txBody>
      </p:sp>
      <p:sp>
        <p:nvSpPr>
          <p:cNvPr id="8" name="Rounded Rectangle 7"/>
          <p:cNvSpPr/>
          <p:nvPr/>
        </p:nvSpPr>
        <p:spPr>
          <a:xfrm>
            <a:off x="731520" y="2697480"/>
            <a:ext cx="10698480" cy="3749039"/>
          </a:xfrm>
          <a:prstGeom prst="roundRect">
            <a:avLst/>
          </a:prstGeom>
          <a:solidFill>
            <a:srgbClr val="FFFFFF"/>
          </a:solidFill>
          <a:ln w="254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788920"/>
            <a:ext cx="10332720" cy="320040"/>
          </a:xfrm>
          <a:prstGeom prst="rect">
            <a:avLst/>
          </a:prstGeom>
          <a:noFill/>
        </p:spPr>
        <p:txBody>
          <a:bodyPr wrap="none">
            <a:spAutoFit/>
          </a:bodyPr>
          <a:lstStyle/>
          <a:p>
            <a:pPr>
              <a:defRPr b="1" sz="1100">
                <a:solidFill>
                  <a:srgbClr val="2563EB"/>
                </a:solidFill>
                <a:latin typeface="Segoe UI"/>
              </a:defRPr>
            </a:pPr>
            <a:r>
              <a:t>AUTOSRE 5-TIER HIERARCHICAL LAYERED BLUEPRINT (STRICT BOUNDARY ENFORCEMENT)</a:t>
            </a:r>
          </a:p>
        </p:txBody>
      </p:sp>
      <p:sp>
        <p:nvSpPr>
          <p:cNvPr id="10" name="Rounded Rectangle 9"/>
          <p:cNvSpPr/>
          <p:nvPr/>
        </p:nvSpPr>
        <p:spPr>
          <a:xfrm>
            <a:off x="1005840" y="3154680"/>
            <a:ext cx="10149840" cy="566928"/>
          </a:xfrm>
          <a:prstGeom prst="roundRect">
            <a:avLst/>
          </a:prstGeom>
          <a:solidFill>
            <a:srgbClr val="F0F7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50">
                <a:solidFill>
                  <a:srgbClr val="2563EB"/>
                </a:solidFill>
                <a:latin typeface="Segoe UI"/>
              </a:defRPr>
            </a:pPr>
            <a:r>
              <a:t>TIER 1: PRESENTATION (OPERATIONAL COCKPIT)</a:t>
            </a:r>
          </a:p>
          <a:p>
            <a:pPr>
              <a:spcBef>
                <a:spcPts val="100"/>
              </a:spcBef>
              <a:defRPr sz="800">
                <a:solidFill>
                  <a:srgbClr val="334155"/>
                </a:solidFill>
              </a:defRPr>
            </a:pPr>
            <a:r>
              <a:t>Glassmorphic UI • SVG Topology Mesh • Incident War Room • Live Modals (HTML5/CSS3/ES6 JS)</a:t>
            </a:r>
          </a:p>
        </p:txBody>
      </p:sp>
      <p:sp>
        <p:nvSpPr>
          <p:cNvPr id="11" name="Rounded Rectangle 10"/>
          <p:cNvSpPr/>
          <p:nvPr/>
        </p:nvSpPr>
        <p:spPr>
          <a:xfrm>
            <a:off x="1005840" y="3794760"/>
            <a:ext cx="10149840" cy="566928"/>
          </a:xfrm>
          <a:prstGeom prst="roundRect">
            <a:avLst/>
          </a:prstGeom>
          <a:solidFill>
            <a:srgbClr val="FFFAF0"/>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50">
                <a:solidFill>
                  <a:srgbClr val="D97706"/>
                </a:solidFill>
                <a:latin typeface="Segoe UI"/>
              </a:defRPr>
            </a:pPr>
            <a:r>
              <a:t>TIER 2: API GATEWAY &amp; ORCHESTRATION</a:t>
            </a:r>
          </a:p>
          <a:p>
            <a:pPr>
              <a:spcBef>
                <a:spcPts val="100"/>
              </a:spcBef>
              <a:defRPr sz="800">
                <a:solidFill>
                  <a:srgbClr val="334155"/>
                </a:solidFill>
              </a:defRPr>
            </a:pPr>
            <a:r>
              <a:t>FastAPI ASGI Server (Python 3.12) • 17 Validated REST Endpoints • Pydantic v2 • CORS Headers</a:t>
            </a:r>
          </a:p>
        </p:txBody>
      </p:sp>
      <p:sp>
        <p:nvSpPr>
          <p:cNvPr id="12" name="Rounded Rectangle 11"/>
          <p:cNvSpPr/>
          <p:nvPr/>
        </p:nvSpPr>
        <p:spPr>
          <a:xfrm>
            <a:off x="1005840" y="4434840"/>
            <a:ext cx="10149840" cy="566928"/>
          </a:xfrm>
          <a:prstGeom prst="roundRect">
            <a:avLst/>
          </a:prstGeom>
          <a:solidFill>
            <a:srgbClr val="FAF5FF"/>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50">
                <a:solidFill>
                  <a:srgbClr val="7C3AED"/>
                </a:solidFill>
                <a:latin typeface="Segoe UI"/>
              </a:defRPr>
            </a:pPr>
            <a:r>
              <a:t>TIER 3: OBSERVABILITY &amp; COGNITIVE REASONING</a:t>
            </a:r>
          </a:p>
          <a:p>
            <a:pPr>
              <a:spcBef>
                <a:spcPts val="100"/>
              </a:spcBef>
              <a:defRPr sz="800">
                <a:solidFill>
                  <a:srgbClr val="334155"/>
                </a:solidFill>
              </a:defRPr>
            </a:pPr>
            <a:r>
              <a:t>Prometheus Scraper (:9090) • Drain + Isolation Forest (&lt;8ms) • LangGraph 8-Node FSM • Gemini 3.5 Lite RCA</a:t>
            </a:r>
          </a:p>
        </p:txBody>
      </p:sp>
      <p:sp>
        <p:nvSpPr>
          <p:cNvPr id="13" name="Rounded Rectangle 12"/>
          <p:cNvSpPr/>
          <p:nvPr/>
        </p:nvSpPr>
        <p:spPr>
          <a:xfrm>
            <a:off x="1005840" y="5074920"/>
            <a:ext cx="10149840" cy="566928"/>
          </a:xfrm>
          <a:prstGeom prst="roundRect">
            <a:avLst/>
          </a:prstGeom>
          <a:solidFill>
            <a:srgbClr val="F2F9F6"/>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50">
                <a:solidFill>
                  <a:srgbClr val="10B981"/>
                </a:solidFill>
                <a:latin typeface="Segoe UI"/>
              </a:defRPr>
            </a:pPr>
            <a:r>
              <a:t>TIER 4: SECURITY POLICY &amp; EXECUTION TIER</a:t>
            </a:r>
          </a:p>
          <a:p>
            <a:pPr>
              <a:spcBef>
                <a:spcPts val="100"/>
              </a:spcBef>
              <a:defRPr sz="800">
                <a:solidFill>
                  <a:srgbClr val="334155"/>
                </a:solidFill>
              </a:defRPr>
            </a:pPr>
            <a:r>
              <a:t>Zero-Shell Policy Gatekeeper • Action Allowlist (restart, scale, rollback, clear_cache) • Docker SDK / K8s</a:t>
            </a:r>
          </a:p>
        </p:txBody>
      </p:sp>
      <p:sp>
        <p:nvSpPr>
          <p:cNvPr id="14" name="Rounded Rectangle 13"/>
          <p:cNvSpPr/>
          <p:nvPr/>
        </p:nvSpPr>
        <p:spPr>
          <a:xfrm>
            <a:off x="1005840" y="5715000"/>
            <a:ext cx="10149840" cy="566928"/>
          </a:xfrm>
          <a:prstGeom prst="roundRect">
            <a:avLst/>
          </a:prstGeom>
          <a:solidFill>
            <a:srgbClr val="FEFCE8"/>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50">
                <a:solidFill>
                  <a:srgbClr val="1E293B"/>
                </a:solidFill>
                <a:latin typeface="Segoe UI"/>
              </a:defRPr>
            </a:pPr>
            <a:r>
              <a:t>TIER 5: PERSISTENCE &amp; INFRASTRUCTURE TIER</a:t>
            </a:r>
          </a:p>
          <a:p>
            <a:pPr>
              <a:spcBef>
                <a:spcPts val="100"/>
              </a:spcBef>
              <a:defRPr sz="800">
                <a:solidFill>
                  <a:srgbClr val="334155"/>
                </a:solidFill>
              </a:defRPr>
            </a:pPr>
            <a:r>
              <a:t>SQLite 3 WAL Mode Database (incidents, audit_ledger, connectors) • Monitored Fleet (:8001-:8004, :8010)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2560320" cy="411480"/>
          </a:xfrm>
          <a:prstGeom prst="rect">
            <a:avLst/>
          </a:prstGeom>
          <a:noFill/>
        </p:spPr>
        <p:txBody>
          <a:bodyPr wrap="none" lIns="0" tIns="0">
            <a:spAutoFit/>
          </a:bodyPr>
          <a:lstStyle/>
          <a:p>
            <a:r>
              <a:rPr sz="1400" b="1">
                <a:solidFill>
                  <a:srgbClr val="2563EB"/>
                </a:solidFill>
                <a:latin typeface="Segoe UI"/>
              </a:rPr>
              <a:t>Auto</a:t>
            </a:r>
            <a:r>
              <a:rPr sz="1400" b="1">
                <a:solidFill>
                  <a:srgbClr val="0EA5E9"/>
                </a:solidFill>
                <a:latin typeface="Segoe UI"/>
              </a:rPr>
              <a:t>SRE</a:t>
            </a:r>
            <a:r>
              <a:rPr sz="1100" b="1">
                <a:solidFill>
                  <a:srgbClr val="64748B"/>
                </a:solidFill>
                <a:latin typeface="Segoe UI"/>
              </a:rPr>
              <a:t> // SAD</a:t>
            </a:r>
          </a:p>
        </p:txBody>
      </p:sp>
      <p:sp>
        <p:nvSpPr>
          <p:cNvPr id="4" name="TextBox 3"/>
          <p:cNvSpPr txBox="1"/>
          <p:nvPr/>
        </p:nvSpPr>
        <p:spPr>
          <a:xfrm>
            <a:off x="3108960" y="256032"/>
            <a:ext cx="5943600" cy="548640"/>
          </a:xfrm>
          <a:prstGeom prst="rect">
            <a:avLst/>
          </a:prstGeom>
          <a:noFill/>
        </p:spPr>
        <p:txBody>
          <a:bodyPr wrap="none" lIns="0" tIns="0">
            <a:spAutoFit/>
          </a:bodyPr>
          <a:lstStyle/>
          <a:p>
            <a:pPr algn="ctr">
              <a:defRPr sz="2100" b="1">
                <a:solidFill>
                  <a:srgbClr val="0F172A"/>
                </a:solidFill>
                <a:latin typeface="Georgia"/>
              </a:defRPr>
            </a:pPr>
            <a:r>
              <a:t>TECHNICAL APPROACH: END-TO-END SYSTEM ARCHITECTURE</a:t>
            </a:r>
          </a:p>
        </p:txBody>
      </p:sp>
      <p:sp>
        <p:nvSpPr>
          <p:cNvPr id="5" name="Rounded Rectangle 4"/>
          <p:cNvSpPr/>
          <p:nvPr/>
        </p:nvSpPr>
        <p:spPr>
          <a:xfrm>
            <a:off x="9235440" y="292608"/>
            <a:ext cx="2194560" cy="384048"/>
          </a:xfrm>
          <a:prstGeom prst="roundRect">
            <a:avLst/>
          </a:prstGeom>
          <a:solidFill>
            <a:srgbClr val="F0F7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2563EB"/>
                </a:solidFill>
                <a:latin typeface="Segoe UI"/>
              </a:defRPr>
            </a:pPr>
            <a:r>
              <a:t>SAD ACADEMIC DEFENSE 2026</a:t>
            </a:r>
          </a:p>
        </p:txBody>
      </p:sp>
      <p:sp>
        <p:nvSpPr>
          <p:cNvPr id="6" name="Rounded Rectangle 5"/>
          <p:cNvSpPr/>
          <p:nvPr/>
        </p:nvSpPr>
        <p:spPr>
          <a:xfrm>
            <a:off x="731520" y="1051560"/>
            <a:ext cx="5212080" cy="5349240"/>
          </a:xfrm>
          <a:prstGeom prst="roundRect">
            <a:avLst/>
          </a:prstGeom>
          <a:solidFill>
            <a:srgbClr val="F0F7FF"/>
          </a:solidFill>
          <a:ln w="254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143000"/>
            <a:ext cx="4846320" cy="365760"/>
          </a:xfrm>
          <a:prstGeom prst="rect">
            <a:avLst/>
          </a:prstGeom>
          <a:noFill/>
        </p:spPr>
        <p:txBody>
          <a:bodyPr wrap="none">
            <a:spAutoFit/>
          </a:bodyPr>
          <a:lstStyle/>
          <a:p>
            <a:pPr>
              <a:defRPr b="1" sz="1400">
                <a:solidFill>
                  <a:srgbClr val="2563EB"/>
                </a:solidFill>
                <a:latin typeface="Georgia"/>
              </a:defRPr>
            </a:pPr>
            <a:r>
              <a:t>AI Intelligence &amp; Processing Pipeline</a:t>
            </a:r>
          </a:p>
        </p:txBody>
      </p:sp>
      <p:sp>
        <p:nvSpPr>
          <p:cNvPr id="8" name="Rounded Rectangle 7"/>
          <p:cNvSpPr/>
          <p:nvPr/>
        </p:nvSpPr>
        <p:spPr>
          <a:xfrm>
            <a:off x="914400" y="1536192"/>
            <a:ext cx="4846320" cy="73152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2563EB"/>
                </a:solidFill>
              </a:defRPr>
            </a:pPr>
            <a:r>
              <a:t>1. Intelligent Telemetry Ingestion</a:t>
            </a:r>
          </a:p>
          <a:p>
            <a:pPr>
              <a:spcBef>
                <a:spcPts val="100"/>
              </a:spcBef>
              <a:defRPr sz="750">
                <a:solidFill>
                  <a:srgbClr val="334155"/>
                </a:solidFill>
              </a:defRPr>
            </a:pPr>
            <a:r>
              <a:t>Prometheus Scraper (:9090) pulls /metrics every 2s (CPU, memory, 5xx rate, latency). In-memory log buffer captures raw streaming logs.</a:t>
            </a:r>
          </a:p>
        </p:txBody>
      </p:sp>
      <p:sp>
        <p:nvSpPr>
          <p:cNvPr id="9" name="Rounded Rectangle 8"/>
          <p:cNvSpPr/>
          <p:nvPr/>
        </p:nvSpPr>
        <p:spPr>
          <a:xfrm>
            <a:off x="914400" y="2331720"/>
            <a:ext cx="4846320" cy="73152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2563EB"/>
                </a:solidFill>
              </a:defRPr>
            </a:pPr>
            <a:r>
              <a:t>2. Log Anomaly Engine (Drain + Isolation Forest)</a:t>
            </a:r>
          </a:p>
          <a:p>
            <a:pPr>
              <a:spcBef>
                <a:spcPts val="100"/>
              </a:spcBef>
              <a:defRPr sz="750">
                <a:solidFill>
                  <a:srgbClr val="334155"/>
                </a:solidFill>
              </a:defRPr>
            </a:pPr>
            <a:r>
              <a:t>Drain regex parser abstracts variables (&lt;IP&gt;, &lt;NUM&gt;, &lt;UUID&gt;). Isolation Forest scores token vectors in &lt;8ms (anomaly trigger: score &lt; -0.15).</a:t>
            </a:r>
          </a:p>
        </p:txBody>
      </p:sp>
      <p:sp>
        <p:nvSpPr>
          <p:cNvPr id="10" name="Rounded Rectangle 9"/>
          <p:cNvSpPr/>
          <p:nvPr/>
        </p:nvSpPr>
        <p:spPr>
          <a:xfrm>
            <a:off x="914400" y="3127248"/>
            <a:ext cx="4846320" cy="73152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2563EB"/>
                </a:solidFill>
              </a:defRPr>
            </a:pPr>
            <a:r>
              <a:t>3. Grounded Runbook RAG Layer</a:t>
            </a:r>
          </a:p>
          <a:p>
            <a:pPr>
              <a:spcBef>
                <a:spcPts val="100"/>
              </a:spcBef>
              <a:defRPr sz="750">
                <a:solidFill>
                  <a:srgbClr val="334155"/>
                </a:solidFill>
              </a:defRPr>
            </a:pPr>
            <a:r>
              <a:t>Indexes curated SRE Markdown manuals. TF-IDF vectorizer + cosine similarity retrieves the exact troubleshooting runbook chunk.</a:t>
            </a:r>
          </a:p>
        </p:txBody>
      </p:sp>
      <p:sp>
        <p:nvSpPr>
          <p:cNvPr id="11" name="Rounded Rectangle 10"/>
          <p:cNvSpPr/>
          <p:nvPr/>
        </p:nvSpPr>
        <p:spPr>
          <a:xfrm>
            <a:off x="914400" y="3922776"/>
            <a:ext cx="4846320" cy="73152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2563EB"/>
                </a:solidFill>
              </a:defRPr>
            </a:pPr>
            <a:r>
              <a:t>4. Cognitive Root Cause Analysis (Gemini 3.5 Lite)</a:t>
            </a:r>
          </a:p>
          <a:p>
            <a:pPr>
              <a:spcBef>
                <a:spcPts val="100"/>
              </a:spcBef>
              <a:defRPr sz="750">
                <a:solidFill>
                  <a:srgbClr val="334155"/>
                </a:solidFill>
              </a:defRPr>
            </a:pPr>
            <a:r>
              <a:t>Combines telemetry + anomaly logs + runbook chunk. Google Gemini 3.5 Flash Lite generates structured JSON diagnosis (Dual-mode fallback).</a:t>
            </a:r>
          </a:p>
        </p:txBody>
      </p:sp>
      <p:sp>
        <p:nvSpPr>
          <p:cNvPr id="12" name="Rounded Rectangle 11"/>
          <p:cNvSpPr/>
          <p:nvPr/>
        </p:nvSpPr>
        <p:spPr>
          <a:xfrm>
            <a:off x="914400" y="4718304"/>
            <a:ext cx="4846320" cy="73152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2563EB"/>
                </a:solidFill>
              </a:defRPr>
            </a:pPr>
            <a:r>
              <a:t>5. Zero-Shell Policy Gatekeeper &amp; Remediation</a:t>
            </a:r>
          </a:p>
          <a:p>
            <a:pPr>
              <a:spcBef>
                <a:spcPts val="100"/>
              </a:spcBef>
              <a:defRPr sz="750">
                <a:solidFill>
                  <a:srgbClr val="334155"/>
                </a:solidFill>
              </a:defRPr>
            </a:pPr>
            <a:r>
              <a:t>Validates action against 5-command allowlist. Human sign-off required for protected services. Dispatches safe Docker SDK container restart.</a:t>
            </a:r>
          </a:p>
        </p:txBody>
      </p:sp>
      <p:sp>
        <p:nvSpPr>
          <p:cNvPr id="13" name="Rounded Rectangle 12"/>
          <p:cNvSpPr/>
          <p:nvPr/>
        </p:nvSpPr>
        <p:spPr>
          <a:xfrm>
            <a:off x="914400" y="5532120"/>
            <a:ext cx="4846320" cy="731520"/>
          </a:xfrm>
          <a:prstGeom prst="roundRect">
            <a:avLst/>
          </a:prstGeom>
          <a:solidFill>
            <a:srgbClr val="FFFFFF"/>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45720"/>
          <a:lstStyle/>
          <a:p>
            <a:pPr algn="ctr">
              <a:defRPr b="1" sz="800">
                <a:solidFill>
                  <a:srgbClr val="1E293B"/>
                </a:solidFill>
              </a:defRPr>
            </a:pPr>
            <a:r>
              <a:t>CORE TECHNOLOGIES &amp; FRAMEWORKS</a:t>
            </a:r>
          </a:p>
          <a:p>
            <a:pPr algn="ctr">
              <a:spcBef>
                <a:spcPts val="200"/>
              </a:spcBef>
              <a:defRPr b="1" sz="750">
                <a:solidFill>
                  <a:srgbClr val="2563EB"/>
                </a:solidFill>
              </a:defRPr>
            </a:pPr>
            <a:r>
              <a:t>Python 3.12 • FastAPI • LangGraph • Google Gemini 3.5 • Scikit-learn • Docker • SQLite 3 WAL • Prometheus • HTML5/SVG</a:t>
            </a:r>
          </a:p>
        </p:txBody>
      </p:sp>
      <p:sp>
        <p:nvSpPr>
          <p:cNvPr id="14" name="Rounded Rectangle 13"/>
          <p:cNvSpPr/>
          <p:nvPr/>
        </p:nvSpPr>
        <p:spPr>
          <a:xfrm>
            <a:off x="6217920" y="1051560"/>
            <a:ext cx="5212080" cy="5349240"/>
          </a:xfrm>
          <a:prstGeom prst="roundRect">
            <a:avLst/>
          </a:prstGeom>
          <a:solidFill>
            <a:srgbClr val="FFFAF0"/>
          </a:solidFill>
          <a:ln w="254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143000"/>
            <a:ext cx="4846320" cy="365760"/>
          </a:xfrm>
          <a:prstGeom prst="rect">
            <a:avLst/>
          </a:prstGeom>
          <a:noFill/>
        </p:spPr>
        <p:txBody>
          <a:bodyPr wrap="none">
            <a:spAutoFit/>
          </a:bodyPr>
          <a:lstStyle/>
          <a:p>
            <a:pPr>
              <a:defRPr b="1" sz="1400">
                <a:solidFill>
                  <a:srgbClr val="D97706"/>
                </a:solidFill>
                <a:latin typeface="Georgia"/>
              </a:defRPr>
            </a:pPr>
            <a:r>
              <a:t>End-to-End AutoSRE Runtime Architecture</a:t>
            </a:r>
          </a:p>
        </p:txBody>
      </p:sp>
      <p:sp>
        <p:nvSpPr>
          <p:cNvPr id="16" name="Rounded Rectangle 15"/>
          <p:cNvSpPr/>
          <p:nvPr/>
        </p:nvSpPr>
        <p:spPr>
          <a:xfrm>
            <a:off x="6400800" y="1554480"/>
            <a:ext cx="4846320" cy="621792"/>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5720"/>
          <a:lstStyle/>
          <a:p>
            <a:pPr algn="ctr">
              <a:defRPr b="1" sz="850">
                <a:solidFill>
                  <a:srgbClr val="2563EB"/>
                </a:solidFill>
              </a:defRPr>
            </a:pPr>
            <a:r>
              <a:t>Users &amp; SRE Operators</a:t>
            </a:r>
          </a:p>
          <a:p>
            <a:pPr>
              <a:spcBef>
                <a:spcPts val="100"/>
              </a:spcBef>
              <a:defRPr sz="750">
                <a:solidFill>
                  <a:srgbClr val="334155"/>
                </a:solidFill>
              </a:defRPr>
            </a:pPr>
            <a:r>
              <a:t>Access Executive Glassmorphic Cockpit, Live SVG Topology &amp; War Room</a:t>
            </a:r>
          </a:p>
        </p:txBody>
      </p:sp>
      <p:sp>
        <p:nvSpPr>
          <p:cNvPr id="17" name="Rounded Rectangle 16"/>
          <p:cNvSpPr/>
          <p:nvPr/>
        </p:nvSpPr>
        <p:spPr>
          <a:xfrm>
            <a:off x="6400800" y="2240280"/>
            <a:ext cx="4846320" cy="621792"/>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45720"/>
          <a:lstStyle/>
          <a:p>
            <a:pPr algn="ctr">
              <a:defRPr b="1" sz="850">
                <a:solidFill>
                  <a:srgbClr val="2563EB"/>
                </a:solidFill>
              </a:defRPr>
            </a:pPr>
            <a:r>
              <a:t>FastAPI Control Plane Gateway</a:t>
            </a:r>
          </a:p>
          <a:p>
            <a:pPr>
              <a:spcBef>
                <a:spcPts val="100"/>
              </a:spcBef>
              <a:defRPr sz="750">
                <a:solidFill>
                  <a:srgbClr val="334155"/>
                </a:solidFill>
              </a:defRPr>
            </a:pPr>
            <a:r>
              <a:t>ASGI Asynchronous Server • 17 REST API Endpoints • Pydantic Schema Validator</a:t>
            </a:r>
          </a:p>
        </p:txBody>
      </p:sp>
      <p:sp>
        <p:nvSpPr>
          <p:cNvPr id="18" name="Rounded Rectangle 17"/>
          <p:cNvSpPr/>
          <p:nvPr/>
        </p:nvSpPr>
        <p:spPr>
          <a:xfrm>
            <a:off x="6400800" y="2926080"/>
            <a:ext cx="4846320" cy="621792"/>
          </a:xfrm>
          <a:prstGeom prst="roundRect">
            <a:avLst/>
          </a:prstGeom>
          <a:solidFill>
            <a:srgbClr val="FFFFFF"/>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45720"/>
          <a:lstStyle/>
          <a:p>
            <a:pPr algn="ctr">
              <a:defRPr b="1" sz="850">
                <a:solidFill>
                  <a:srgbClr val="7C3AED"/>
                </a:solidFill>
              </a:defRPr>
            </a:pPr>
            <a:r>
              <a:t>Autonomous SRE Orchestrator (LangGraph 8-Node FSM)</a:t>
            </a:r>
          </a:p>
          <a:p>
            <a:pPr>
              <a:spcBef>
                <a:spcPts val="100"/>
              </a:spcBef>
              <a:defRPr sz="750">
                <a:solidFill>
                  <a:srgbClr val="334155"/>
                </a:solidFill>
              </a:defRPr>
            </a:pPr>
            <a:r>
              <a:t>Sense ➔ Detect ➔ Match Runbook ➔ Gemini RCA ➔ Policy Gate ➔ Execute ➔ Verify</a:t>
            </a:r>
          </a:p>
        </p:txBody>
      </p:sp>
      <p:sp>
        <p:nvSpPr>
          <p:cNvPr id="19" name="Rounded Rectangle 18"/>
          <p:cNvSpPr/>
          <p:nvPr/>
        </p:nvSpPr>
        <p:spPr>
          <a:xfrm>
            <a:off x="6400800" y="3611880"/>
            <a:ext cx="4846320" cy="621792"/>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45720"/>
          <a:lstStyle/>
          <a:p>
            <a:pPr algn="ctr">
              <a:defRPr b="1" sz="850">
                <a:solidFill>
                  <a:srgbClr val="D97706"/>
                </a:solidFill>
              </a:defRPr>
            </a:pPr>
            <a:r>
              <a:t>Zero-Shell Policy Gatekeeper &amp; Action Allowlist</a:t>
            </a:r>
          </a:p>
          <a:p>
            <a:pPr>
              <a:spcBef>
                <a:spcPts val="100"/>
              </a:spcBef>
              <a:defRPr sz="750">
                <a:solidFill>
                  <a:srgbClr val="334155"/>
                </a:solidFill>
              </a:defRPr>
            </a:pPr>
            <a:r>
              <a:t>Human Approval Gate for Protected Services • Container API Invoker (No Bash)</a:t>
            </a:r>
          </a:p>
        </p:txBody>
      </p:sp>
      <p:sp>
        <p:nvSpPr>
          <p:cNvPr id="20" name="Rounded Rectangle 19"/>
          <p:cNvSpPr/>
          <p:nvPr/>
        </p:nvSpPr>
        <p:spPr>
          <a:xfrm>
            <a:off x="6400800" y="4297680"/>
            <a:ext cx="4846320" cy="621792"/>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45720"/>
          <a:lstStyle/>
          <a:p>
            <a:pPr algn="ctr">
              <a:defRPr b="1" sz="850">
                <a:solidFill>
                  <a:srgbClr val="10B981"/>
                </a:solidFill>
              </a:defRPr>
            </a:pPr>
            <a:r>
              <a:t>Health Verification Loop &amp; Immutable Audit Ledger</a:t>
            </a:r>
          </a:p>
          <a:p>
            <a:pPr>
              <a:spcBef>
                <a:spcPts val="100"/>
              </a:spcBef>
              <a:defRPr sz="750">
                <a:solidFill>
                  <a:srgbClr val="334155"/>
                </a:solidFill>
              </a:defRPr>
            </a:pPr>
            <a:r>
              <a:t>Automated /health Polling Loop (3 retries) • SQLite 3 WAL Database Commit</a:t>
            </a:r>
          </a:p>
        </p:txBody>
      </p:sp>
      <p:sp>
        <p:nvSpPr>
          <p:cNvPr id="21" name="Rounded Rectangle 20"/>
          <p:cNvSpPr/>
          <p:nvPr/>
        </p:nvSpPr>
        <p:spPr>
          <a:xfrm>
            <a:off x="6400800" y="4983480"/>
            <a:ext cx="4846320" cy="621792"/>
          </a:xfrm>
          <a:prstGeom prst="roundRect">
            <a:avLst/>
          </a:prstGeom>
          <a:solidFill>
            <a:srgbClr val="F0F7FF"/>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45720"/>
          <a:lstStyle/>
          <a:p>
            <a:pPr algn="ctr">
              <a:defRPr b="1" sz="850">
                <a:solidFill>
                  <a:srgbClr val="1E293B"/>
                </a:solidFill>
              </a:defRPr>
            </a:pPr>
            <a:r>
              <a:t>Target Microservices Fleet &amp; External Apps</a:t>
            </a:r>
          </a:p>
          <a:p>
            <a:pPr>
              <a:spcBef>
                <a:spcPts val="100"/>
              </a:spcBef>
              <a:defRPr sz="750">
                <a:solidFill>
                  <a:srgbClr val="334155"/>
                </a:solidFill>
              </a:defRPr>
            </a:pPr>
            <a:r>
              <a:t>user-service (:8001), payment (:8002), order (:8003), notif (:8004), Bella Vista Cafe (:8010)</a:t>
            </a:r>
          </a:p>
        </p:txBody>
      </p:sp>
      <p:sp>
        <p:nvSpPr>
          <p:cNvPr id="22" name="TextBox 21"/>
          <p:cNvSpPr txBox="1"/>
          <p:nvPr/>
        </p:nvSpPr>
        <p:spPr>
          <a:xfrm>
            <a:off x="6400800" y="5715000"/>
            <a:ext cx="4846320" cy="548640"/>
          </a:xfrm>
          <a:prstGeom prst="rect">
            <a:avLst/>
          </a:prstGeom>
          <a:noFill/>
        </p:spPr>
        <p:txBody>
          <a:bodyPr wrap="none">
            <a:spAutoFit/>
          </a:bodyPr>
          <a:lstStyle/>
          <a:p>
            <a:pPr>
              <a:defRPr sz="750" i="1">
                <a:solidFill>
                  <a:srgbClr val="64748B"/>
                </a:solidFill>
              </a:defRPr>
            </a:pPr>
            <a:r>
              <a:t>Strict Control Plane vs. Workload Plane Separation: AutoSRE monitors target applications without modifying their internal code or sharing databases.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2560320" cy="411480"/>
          </a:xfrm>
          <a:prstGeom prst="rect">
            <a:avLst/>
          </a:prstGeom>
          <a:noFill/>
        </p:spPr>
        <p:txBody>
          <a:bodyPr wrap="none" lIns="0" tIns="0">
            <a:spAutoFit/>
          </a:bodyPr>
          <a:lstStyle/>
          <a:p>
            <a:r>
              <a:rPr sz="1400" b="1">
                <a:solidFill>
                  <a:srgbClr val="2563EB"/>
                </a:solidFill>
                <a:latin typeface="Segoe UI"/>
              </a:rPr>
              <a:t>Auto</a:t>
            </a:r>
            <a:r>
              <a:rPr sz="1400" b="1">
                <a:solidFill>
                  <a:srgbClr val="0EA5E9"/>
                </a:solidFill>
                <a:latin typeface="Segoe UI"/>
              </a:rPr>
              <a:t>SRE</a:t>
            </a:r>
            <a:r>
              <a:rPr sz="1100" b="1">
                <a:solidFill>
                  <a:srgbClr val="64748B"/>
                </a:solidFill>
                <a:latin typeface="Segoe UI"/>
              </a:rPr>
              <a:t> // SAD</a:t>
            </a:r>
          </a:p>
        </p:txBody>
      </p:sp>
      <p:sp>
        <p:nvSpPr>
          <p:cNvPr id="4" name="TextBox 3"/>
          <p:cNvSpPr txBox="1"/>
          <p:nvPr/>
        </p:nvSpPr>
        <p:spPr>
          <a:xfrm>
            <a:off x="3108960" y="256032"/>
            <a:ext cx="5943600" cy="548640"/>
          </a:xfrm>
          <a:prstGeom prst="rect">
            <a:avLst/>
          </a:prstGeom>
          <a:noFill/>
        </p:spPr>
        <p:txBody>
          <a:bodyPr wrap="none" lIns="0" tIns="0">
            <a:spAutoFit/>
          </a:bodyPr>
          <a:lstStyle/>
          <a:p>
            <a:pPr algn="ctr">
              <a:defRPr sz="2100" b="1">
                <a:solidFill>
                  <a:srgbClr val="0F172A"/>
                </a:solidFill>
                <a:latin typeface="Georgia"/>
              </a:defRPr>
            </a:pPr>
            <a:r>
              <a:t>APPLIED ARCHITECTURAL STYLES &amp; DESIGN PATTERNS</a:t>
            </a:r>
          </a:p>
        </p:txBody>
      </p:sp>
      <p:sp>
        <p:nvSpPr>
          <p:cNvPr id="5" name="Rounded Rectangle 4"/>
          <p:cNvSpPr/>
          <p:nvPr/>
        </p:nvSpPr>
        <p:spPr>
          <a:xfrm>
            <a:off x="9235440" y="292608"/>
            <a:ext cx="2194560" cy="384048"/>
          </a:xfrm>
          <a:prstGeom prst="roundRect">
            <a:avLst/>
          </a:prstGeom>
          <a:solidFill>
            <a:srgbClr val="F0F7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2563EB"/>
                </a:solidFill>
                <a:latin typeface="Segoe UI"/>
              </a:defRPr>
            </a:pPr>
            <a:r>
              <a:t>SAD ACADEMIC DEFENSE 2026</a:t>
            </a:r>
          </a:p>
        </p:txBody>
      </p:sp>
      <p:sp>
        <p:nvSpPr>
          <p:cNvPr id="6" name="Rounded Rectangle 5"/>
          <p:cNvSpPr/>
          <p:nvPr/>
        </p:nvSpPr>
        <p:spPr>
          <a:xfrm>
            <a:off x="731520" y="1097280"/>
            <a:ext cx="2542032" cy="2514600"/>
          </a:xfrm>
          <a:prstGeom prst="roundRect">
            <a:avLst/>
          </a:prstGeom>
          <a:solidFill>
            <a:srgbClr val="F0F7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1000">
                <a:solidFill>
                  <a:srgbClr val="2563EB"/>
                </a:solidFill>
                <a:latin typeface="Segoe UI"/>
              </a:defRPr>
            </a:pPr>
            <a:r>
              <a:t>LAYERED / MULTI-TIER</a:t>
            </a:r>
          </a:p>
          <a:p>
            <a:pPr>
              <a:spcBef>
                <a:spcPts val="400"/>
              </a:spcBef>
            </a:pPr>
            <a:r>
              <a:rPr b="1" sz="800">
                <a:solidFill>
                  <a:srgbClr val="0F172A"/>
                </a:solidFill>
              </a:rPr>
              <a:t>Implemented in:
</a:t>
            </a:r>
            <a:r>
              <a:rPr sz="800">
                <a:solidFill>
                  <a:srgbClr val="2563EB"/>
                </a:solidFill>
              </a:rPr>
              <a:t>5-tier separation (UI, API, AI, Policy, DB)</a:t>
            </a:r>
          </a:p>
          <a:p>
            <a:pPr>
              <a:spcBef>
                <a:spcPts val="400"/>
              </a:spcBef>
            </a:pPr>
            <a:r>
              <a:rPr b="1" sz="800">
                <a:solidFill>
                  <a:srgbClr val="0F172A"/>
                </a:solidFill>
              </a:rPr>
              <a:t>Architectural Benefit:
</a:t>
            </a:r>
            <a:r>
              <a:rPr sz="800">
                <a:solidFill>
                  <a:srgbClr val="334155"/>
                </a:solidFill>
              </a:rPr>
              <a:t>Separation of Concerns: Allows independent upgrades of UI, database, or ML models without cascade breaks.</a:t>
            </a:r>
          </a:p>
        </p:txBody>
      </p:sp>
      <p:sp>
        <p:nvSpPr>
          <p:cNvPr id="7" name="Rounded Rectangle 6"/>
          <p:cNvSpPr/>
          <p:nvPr/>
        </p:nvSpPr>
        <p:spPr>
          <a:xfrm>
            <a:off x="3456432" y="1097280"/>
            <a:ext cx="2542032" cy="2514600"/>
          </a:xfrm>
          <a:prstGeom prst="roundRect">
            <a:avLst/>
          </a:prstGeom>
          <a:solidFill>
            <a:srgbClr val="FFFAF0"/>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1000">
                <a:solidFill>
                  <a:srgbClr val="D97706"/>
                </a:solidFill>
                <a:latin typeface="Segoe UI"/>
              </a:defRPr>
            </a:pPr>
            <a:r>
              <a:t>MICROSERVICES PATTERN</a:t>
            </a:r>
          </a:p>
          <a:p>
            <a:pPr>
              <a:spcBef>
                <a:spcPts val="400"/>
              </a:spcBef>
            </a:pPr>
            <a:r>
              <a:rPr b="1" sz="800">
                <a:solidFill>
                  <a:srgbClr val="0F172A"/>
                </a:solidFill>
              </a:rPr>
              <a:t>Implemented in:
</a:t>
            </a:r>
            <a:r>
              <a:rPr sz="800">
                <a:solidFill>
                  <a:srgbClr val="2563EB"/>
                </a:solidFill>
              </a:rPr>
              <a:t>Fleet: user, payment, order, notif, cafe</a:t>
            </a:r>
          </a:p>
          <a:p>
            <a:pPr>
              <a:spcBef>
                <a:spcPts val="400"/>
              </a:spcBef>
            </a:pPr>
            <a:r>
              <a:rPr b="1" sz="800">
                <a:solidFill>
                  <a:srgbClr val="0F172A"/>
                </a:solidFill>
              </a:rPr>
              <a:t>Architectural Benefit:
</a:t>
            </a:r>
            <a:r>
              <a:rPr sz="800">
                <a:solidFill>
                  <a:srgbClr val="334155"/>
                </a:solidFill>
              </a:rPr>
              <a:t>Blast Radius Containment: A connection pool leak in payment-service cannot take down user authentication.</a:t>
            </a:r>
          </a:p>
        </p:txBody>
      </p:sp>
      <p:sp>
        <p:nvSpPr>
          <p:cNvPr id="8" name="Rounded Rectangle 7"/>
          <p:cNvSpPr/>
          <p:nvPr/>
        </p:nvSpPr>
        <p:spPr>
          <a:xfrm>
            <a:off x="6172200" y="1097280"/>
            <a:ext cx="2542032" cy="2514600"/>
          </a:xfrm>
          <a:prstGeom prst="roundRect">
            <a:avLst/>
          </a:prstGeom>
          <a:solidFill>
            <a:srgbClr val="FAF5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1000">
                <a:solidFill>
                  <a:srgbClr val="7C3AED"/>
                </a:solidFill>
                <a:latin typeface="Segoe UI"/>
              </a:defRPr>
            </a:pPr>
            <a:r>
              <a:t>FINITE STATE MACHINE</a:t>
            </a:r>
          </a:p>
          <a:p>
            <a:pPr>
              <a:spcBef>
                <a:spcPts val="400"/>
              </a:spcBef>
            </a:pPr>
            <a:r>
              <a:rPr b="1" sz="800">
                <a:solidFill>
                  <a:srgbClr val="0F172A"/>
                </a:solidFill>
              </a:rPr>
              <a:t>Implemented in:
</a:t>
            </a:r>
            <a:r>
              <a:rPr sz="800">
                <a:solidFill>
                  <a:srgbClr val="2563EB"/>
                </a:solidFill>
              </a:rPr>
              <a:t>LangGraph 8-Node Agent (src/agent/graph.py)</a:t>
            </a:r>
          </a:p>
          <a:p>
            <a:pPr>
              <a:spcBef>
                <a:spcPts val="400"/>
              </a:spcBef>
            </a:pPr>
            <a:r>
              <a:rPr b="1" sz="800">
                <a:solidFill>
                  <a:srgbClr val="0F172A"/>
                </a:solidFill>
              </a:rPr>
              <a:t>Architectural Benefit:
</a:t>
            </a:r>
            <a:r>
              <a:rPr sz="800">
                <a:solidFill>
                  <a:srgbClr val="334155"/>
                </a:solidFill>
              </a:rPr>
              <a:t>Predictability: Agent moves strictly through audited states; guarantees no infinite AI loops or stalls.</a:t>
            </a:r>
          </a:p>
        </p:txBody>
      </p:sp>
      <p:sp>
        <p:nvSpPr>
          <p:cNvPr id="9" name="Rounded Rectangle 8"/>
          <p:cNvSpPr/>
          <p:nvPr/>
        </p:nvSpPr>
        <p:spPr>
          <a:xfrm>
            <a:off x="8887968" y="1097280"/>
            <a:ext cx="2542032" cy="2514600"/>
          </a:xfrm>
          <a:prstGeom prst="roundRect">
            <a:avLst/>
          </a:prstGeom>
          <a:solidFill>
            <a:srgbClr val="F2F9F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1000">
                <a:solidFill>
                  <a:srgbClr val="10B981"/>
                </a:solidFill>
                <a:latin typeface="Segoe UI"/>
              </a:defRPr>
            </a:pPr>
            <a:r>
              <a:t>OBSERVER PATTERN</a:t>
            </a:r>
          </a:p>
          <a:p>
            <a:pPr>
              <a:spcBef>
                <a:spcPts val="400"/>
              </a:spcBef>
            </a:pPr>
            <a:r>
              <a:rPr b="1" sz="800">
                <a:solidFill>
                  <a:srgbClr val="0F172A"/>
                </a:solidFill>
              </a:rPr>
              <a:t>Implemented in:
</a:t>
            </a:r>
            <a:r>
              <a:rPr sz="800">
                <a:solidFill>
                  <a:srgbClr val="2563EB"/>
                </a:solidFill>
              </a:rPr>
              <a:t>Prometheus Telemetry Scraper (:9090)</a:t>
            </a:r>
          </a:p>
          <a:p>
            <a:pPr>
              <a:spcBef>
                <a:spcPts val="400"/>
              </a:spcBef>
            </a:pPr>
            <a:r>
              <a:rPr b="1" sz="800">
                <a:solidFill>
                  <a:srgbClr val="0F172A"/>
                </a:solidFill>
              </a:rPr>
              <a:t>Architectural Benefit:
</a:t>
            </a:r>
            <a:r>
              <a:rPr sz="800">
                <a:solidFill>
                  <a:srgbClr val="334155"/>
                </a:solidFill>
              </a:rPr>
              <a:t>Loose Coupling: Control plane observes microservice health without modifying target source code.</a:t>
            </a:r>
          </a:p>
        </p:txBody>
      </p:sp>
      <p:sp>
        <p:nvSpPr>
          <p:cNvPr id="10" name="Rounded Rectangle 9"/>
          <p:cNvSpPr/>
          <p:nvPr/>
        </p:nvSpPr>
        <p:spPr>
          <a:xfrm>
            <a:off x="731520" y="3794760"/>
            <a:ext cx="2542032" cy="2514600"/>
          </a:xfrm>
          <a:prstGeom prst="roundRect">
            <a:avLst/>
          </a:prstGeom>
          <a:solidFill>
            <a:srgbClr val="F0F7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1000">
                <a:solidFill>
                  <a:srgbClr val="2563EB"/>
                </a:solidFill>
                <a:latin typeface="Segoe UI"/>
              </a:defRPr>
            </a:pPr>
            <a:r>
              <a:t>FACADE / API GATEWAY</a:t>
            </a:r>
          </a:p>
          <a:p>
            <a:pPr>
              <a:spcBef>
                <a:spcPts val="400"/>
              </a:spcBef>
            </a:pPr>
            <a:r>
              <a:rPr b="1" sz="800">
                <a:solidFill>
                  <a:srgbClr val="0F172A"/>
                </a:solidFill>
              </a:rPr>
              <a:t>Implemented in:
</a:t>
            </a:r>
            <a:r>
              <a:rPr sz="800">
                <a:solidFill>
                  <a:srgbClr val="2563EB"/>
                </a:solidFill>
              </a:rPr>
              <a:t>FastAPI Control Plane (src/backend/app.py)</a:t>
            </a:r>
          </a:p>
          <a:p>
            <a:pPr>
              <a:spcBef>
                <a:spcPts val="400"/>
              </a:spcBef>
            </a:pPr>
            <a:r>
              <a:rPr b="1" sz="800">
                <a:solidFill>
                  <a:srgbClr val="0F172A"/>
                </a:solidFill>
              </a:rPr>
              <a:t>Architectural Benefit:
</a:t>
            </a:r>
            <a:r>
              <a:rPr sz="800">
                <a:solidFill>
                  <a:srgbClr val="334155"/>
                </a:solidFill>
              </a:rPr>
              <a:t>Unified Interface: Clients and dashboards interact with one unified API rather than juggling 10 services.</a:t>
            </a:r>
          </a:p>
        </p:txBody>
      </p:sp>
      <p:sp>
        <p:nvSpPr>
          <p:cNvPr id="11" name="Rounded Rectangle 10"/>
          <p:cNvSpPr/>
          <p:nvPr/>
        </p:nvSpPr>
        <p:spPr>
          <a:xfrm>
            <a:off x="3456432" y="3794760"/>
            <a:ext cx="2542032" cy="2514600"/>
          </a:xfrm>
          <a:prstGeom prst="roundRect">
            <a:avLst/>
          </a:prstGeom>
          <a:solidFill>
            <a:srgbClr val="FFFAF0"/>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1000">
                <a:solidFill>
                  <a:srgbClr val="D97706"/>
                </a:solidFill>
                <a:latin typeface="Segoe UI"/>
              </a:defRPr>
            </a:pPr>
            <a:r>
              <a:t>GATEKEEPER / INTERCEPTOR</a:t>
            </a:r>
          </a:p>
          <a:p>
            <a:pPr>
              <a:spcBef>
                <a:spcPts val="400"/>
              </a:spcBef>
            </a:pPr>
            <a:r>
              <a:rPr b="1" sz="800">
                <a:solidFill>
                  <a:srgbClr val="0F172A"/>
                </a:solidFill>
              </a:rPr>
              <a:t>Implemented in:
</a:t>
            </a:r>
            <a:r>
              <a:rPr sz="800">
                <a:solidFill>
                  <a:srgbClr val="2563EB"/>
                </a:solidFill>
              </a:rPr>
              <a:t>Zero-Shell Policy Gate (src/agent/policies.py)</a:t>
            </a:r>
          </a:p>
          <a:p>
            <a:pPr>
              <a:spcBef>
                <a:spcPts val="400"/>
              </a:spcBef>
            </a:pPr>
            <a:r>
              <a:rPr b="1" sz="800">
                <a:solidFill>
                  <a:srgbClr val="0F172A"/>
                </a:solidFill>
              </a:rPr>
              <a:t>Architectural Benefit:
</a:t>
            </a:r>
            <a:r>
              <a:rPr sz="800">
                <a:solidFill>
                  <a:srgbClr val="334155"/>
                </a:solidFill>
              </a:rPr>
              <a:t>Security Barrier: Intercepts all AI outputs before execution; validates against strict action allowlist.</a:t>
            </a:r>
          </a:p>
        </p:txBody>
      </p:sp>
      <p:sp>
        <p:nvSpPr>
          <p:cNvPr id="12" name="Rounded Rectangle 11"/>
          <p:cNvSpPr/>
          <p:nvPr/>
        </p:nvSpPr>
        <p:spPr>
          <a:xfrm>
            <a:off x="6172200" y="3794760"/>
            <a:ext cx="2542032" cy="2514600"/>
          </a:xfrm>
          <a:prstGeom prst="roundRect">
            <a:avLst/>
          </a:prstGeom>
          <a:solidFill>
            <a:srgbClr val="FAF5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1000">
                <a:solidFill>
                  <a:srgbClr val="7C3AED"/>
                </a:solidFill>
                <a:latin typeface="Segoe UI"/>
              </a:defRPr>
            </a:pPr>
            <a:r>
              <a:t>STRATEGY PATTERN</a:t>
            </a:r>
          </a:p>
          <a:p>
            <a:pPr>
              <a:spcBef>
                <a:spcPts val="400"/>
              </a:spcBef>
            </a:pPr>
            <a:r>
              <a:rPr b="1" sz="800">
                <a:solidFill>
                  <a:srgbClr val="0F172A"/>
                </a:solidFill>
              </a:rPr>
              <a:t>Implemented in:
</a:t>
            </a:r>
            <a:r>
              <a:rPr sz="800">
                <a:solidFill>
                  <a:srgbClr val="2563EB"/>
                </a:solidFill>
              </a:rPr>
              <a:t>Dual-Mode Reasoner (Gemini vs. Fallback)</a:t>
            </a:r>
          </a:p>
          <a:p>
            <a:pPr>
              <a:spcBef>
                <a:spcPts val="400"/>
              </a:spcBef>
            </a:pPr>
            <a:r>
              <a:rPr b="1" sz="800">
                <a:solidFill>
                  <a:srgbClr val="0F172A"/>
                </a:solidFill>
              </a:rPr>
              <a:t>Architectural Benefit:
</a:t>
            </a:r>
            <a:r>
              <a:rPr sz="800">
                <a:solidFill>
                  <a:srgbClr val="334155"/>
                </a:solidFill>
              </a:rPr>
              <a:t>High Availability: Uses Gemini 3.5 Lite when online; instantly switches to heuristic rules if API limits hit.</a:t>
            </a:r>
          </a:p>
        </p:txBody>
      </p:sp>
      <p:sp>
        <p:nvSpPr>
          <p:cNvPr id="13" name="Rounded Rectangle 12"/>
          <p:cNvSpPr/>
          <p:nvPr/>
        </p:nvSpPr>
        <p:spPr>
          <a:xfrm>
            <a:off x="8887968" y="3794760"/>
            <a:ext cx="2542032" cy="2514600"/>
          </a:xfrm>
          <a:prstGeom prst="roundRect">
            <a:avLst/>
          </a:prstGeom>
          <a:solidFill>
            <a:srgbClr val="F2F9F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1000">
                <a:solidFill>
                  <a:srgbClr val="10B981"/>
                </a:solidFill>
                <a:latin typeface="Segoe UI"/>
              </a:defRPr>
            </a:pPr>
            <a:r>
              <a:t>RAG PATTERN</a:t>
            </a:r>
          </a:p>
          <a:p>
            <a:pPr>
              <a:spcBef>
                <a:spcPts val="400"/>
              </a:spcBef>
            </a:pPr>
            <a:r>
              <a:rPr b="1" sz="800">
                <a:solidFill>
                  <a:srgbClr val="0F172A"/>
                </a:solidFill>
              </a:rPr>
              <a:t>Implemented in:
</a:t>
            </a:r>
            <a:r>
              <a:rPr sz="800">
                <a:solidFill>
                  <a:srgbClr val="2563EB"/>
                </a:solidFill>
              </a:rPr>
              <a:t>Runbook Retriever (src/rag/retriever.py)</a:t>
            </a:r>
          </a:p>
          <a:p>
            <a:pPr>
              <a:spcBef>
                <a:spcPts val="400"/>
              </a:spcBef>
            </a:pPr>
            <a:r>
              <a:rPr b="1" sz="800">
                <a:solidFill>
                  <a:srgbClr val="0F172A"/>
                </a:solidFill>
              </a:rPr>
              <a:t>Architectural Benefit:
</a:t>
            </a:r>
            <a:r>
              <a:rPr sz="800">
                <a:solidFill>
                  <a:srgbClr val="334155"/>
                </a:solidFill>
              </a:rPr>
              <a:t>Grounded Truth: Feeds verified Markdown SRE manuals into Gemini context, eliminating hallucinations.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2560320" cy="411480"/>
          </a:xfrm>
          <a:prstGeom prst="rect">
            <a:avLst/>
          </a:prstGeom>
          <a:noFill/>
        </p:spPr>
        <p:txBody>
          <a:bodyPr wrap="none" lIns="0" tIns="0">
            <a:spAutoFit/>
          </a:bodyPr>
          <a:lstStyle/>
          <a:p>
            <a:r>
              <a:rPr sz="1400" b="1">
                <a:solidFill>
                  <a:srgbClr val="2563EB"/>
                </a:solidFill>
                <a:latin typeface="Segoe UI"/>
              </a:rPr>
              <a:t>Auto</a:t>
            </a:r>
            <a:r>
              <a:rPr sz="1400" b="1">
                <a:solidFill>
                  <a:srgbClr val="0EA5E9"/>
                </a:solidFill>
                <a:latin typeface="Segoe UI"/>
              </a:rPr>
              <a:t>SRE</a:t>
            </a:r>
            <a:r>
              <a:rPr sz="1100" b="1">
                <a:solidFill>
                  <a:srgbClr val="64748B"/>
                </a:solidFill>
                <a:latin typeface="Segoe UI"/>
              </a:rPr>
              <a:t> // SAD</a:t>
            </a:r>
          </a:p>
        </p:txBody>
      </p:sp>
      <p:sp>
        <p:nvSpPr>
          <p:cNvPr id="4" name="TextBox 3"/>
          <p:cNvSpPr txBox="1"/>
          <p:nvPr/>
        </p:nvSpPr>
        <p:spPr>
          <a:xfrm>
            <a:off x="3108960" y="256032"/>
            <a:ext cx="5943600" cy="548640"/>
          </a:xfrm>
          <a:prstGeom prst="rect">
            <a:avLst/>
          </a:prstGeom>
          <a:noFill/>
        </p:spPr>
        <p:txBody>
          <a:bodyPr wrap="none" lIns="0" tIns="0">
            <a:spAutoFit/>
          </a:bodyPr>
          <a:lstStyle/>
          <a:p>
            <a:pPr algn="ctr">
              <a:defRPr sz="2100" b="1">
                <a:solidFill>
                  <a:srgbClr val="0F172A"/>
                </a:solidFill>
                <a:latin typeface="Georgia"/>
              </a:defRPr>
            </a:pPr>
            <a:r>
              <a:t>BEHAVIORAL ARCHITECTURE: 8-NODE LANGGRAPH FSM</a:t>
            </a:r>
          </a:p>
        </p:txBody>
      </p:sp>
      <p:sp>
        <p:nvSpPr>
          <p:cNvPr id="5" name="Rounded Rectangle 4"/>
          <p:cNvSpPr/>
          <p:nvPr/>
        </p:nvSpPr>
        <p:spPr>
          <a:xfrm>
            <a:off x="9235440" y="292608"/>
            <a:ext cx="2194560" cy="384048"/>
          </a:xfrm>
          <a:prstGeom prst="roundRect">
            <a:avLst/>
          </a:prstGeom>
          <a:solidFill>
            <a:srgbClr val="F0F7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2563EB"/>
                </a:solidFill>
                <a:latin typeface="Segoe UI"/>
              </a:defRPr>
            </a:pPr>
            <a:r>
              <a:t>SAD ACADEMIC DEFENSE 2026</a:t>
            </a:r>
          </a:p>
        </p:txBody>
      </p:sp>
      <p:sp>
        <p:nvSpPr>
          <p:cNvPr id="6" name="Rounded Rectangle 5"/>
          <p:cNvSpPr/>
          <p:nvPr/>
        </p:nvSpPr>
        <p:spPr>
          <a:xfrm>
            <a:off x="731520" y="1051560"/>
            <a:ext cx="10698480" cy="1005840"/>
          </a:xfrm>
          <a:prstGeom prst="roundRect">
            <a:avLst/>
          </a:prstGeom>
          <a:solidFill>
            <a:srgbClr val="FAF5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b="1" sz="950">
                <a:solidFill>
                  <a:srgbClr val="6D28D9"/>
                </a:solidFill>
              </a:defRPr>
            </a:pPr>
            <a:r>
              <a:t>AUTONOMOUS FINITE STATE MACHINE (FSM) TRANSITION GRAPH</a:t>
            </a:r>
          </a:p>
          <a:p>
            <a:pPr>
              <a:spcBef>
                <a:spcPts val="400"/>
              </a:spcBef>
              <a:defRPr b="1" sz="1100">
                <a:solidFill>
                  <a:srgbClr val="2563EB"/>
                </a:solidFill>
              </a:defRPr>
            </a:pPr>
            <a:r>
              <a:t>[MONITORING]  ➔  [ANALYZING (ML+RAG+LLM)]  ➔  [GATEKEEPING]  ➔  [PENDING_APPROVAL / EXECUTING]  ➔  [VERIFYING]  ➔  [RESOLVED]</a:t>
            </a:r>
          </a:p>
        </p:txBody>
      </p:sp>
      <p:sp>
        <p:nvSpPr>
          <p:cNvPr id="7" name="Rounded Rectangle 6"/>
          <p:cNvSpPr/>
          <p:nvPr/>
        </p:nvSpPr>
        <p:spPr>
          <a:xfrm>
            <a:off x="731520" y="2240280"/>
            <a:ext cx="2542032" cy="4114800"/>
          </a:xfrm>
          <a:prstGeom prst="roundRect">
            <a:avLst/>
          </a:prstGeom>
          <a:solidFill>
            <a:srgbClr val="F0F7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1100">
                <a:solidFill>
                  <a:srgbClr val="2563EB"/>
                </a:solidFill>
                <a:latin typeface="Segoe UI"/>
              </a:defRPr>
            </a:pPr>
            <a:r>
              <a:t>1. SENSE PHASE</a:t>
            </a:r>
          </a:p>
          <a:p>
            <a:pPr>
              <a:spcBef>
                <a:spcPts val="400"/>
              </a:spcBef>
              <a:defRPr b="1" sz="850">
                <a:solidFill>
                  <a:srgbClr val="0F172A"/>
                </a:solidFill>
              </a:defRPr>
            </a:pPr>
            <a:r>
              <a:t>scrape_telemetry</a:t>
            </a:r>
            <a:br/>
            <a:r>
              <a:t>detect_anomaly</a:t>
            </a:r>
          </a:p>
          <a:p>
            <a:pPr>
              <a:spcBef>
                <a:spcPts val="800"/>
              </a:spcBef>
              <a:defRPr sz="800">
                <a:solidFill>
                  <a:srgbClr val="334155"/>
                </a:solidFill>
              </a:defRPr>
            </a:pPr>
            <a:r>
              <a:t>• Intercepts Prometheus /metrics every 2 seconds</a:t>
            </a:r>
            <a:br/>
            <a:r>
              <a:t>• Drain regex masks dynamic tokens (&lt;IP&gt;, &lt;NUM&gt;)</a:t>
            </a:r>
            <a:br/>
            <a:r>
              <a:t>• Isolation Forest scores anomaly vector in &lt;8ms</a:t>
            </a:r>
            <a:br/>
            <a:r>
              <a:t>• Triggers incident if score &lt; -0.15 or 5xx spike</a:t>
            </a:r>
          </a:p>
        </p:txBody>
      </p:sp>
      <p:sp>
        <p:nvSpPr>
          <p:cNvPr id="8" name="Rounded Rectangle 7"/>
          <p:cNvSpPr/>
          <p:nvPr/>
        </p:nvSpPr>
        <p:spPr>
          <a:xfrm>
            <a:off x="3456432" y="2240280"/>
            <a:ext cx="2542032" cy="4114800"/>
          </a:xfrm>
          <a:prstGeom prst="roundRect">
            <a:avLst/>
          </a:prstGeom>
          <a:solidFill>
            <a:srgbClr val="FFFAF0"/>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1100">
                <a:solidFill>
                  <a:srgbClr val="D97706"/>
                </a:solidFill>
                <a:latin typeface="Segoe UI"/>
              </a:defRPr>
            </a:pPr>
            <a:r>
              <a:t>2. PLAN PHASE</a:t>
            </a:r>
          </a:p>
          <a:p>
            <a:pPr>
              <a:spcBef>
                <a:spcPts val="400"/>
              </a:spcBef>
              <a:defRPr b="1" sz="850">
                <a:solidFill>
                  <a:srgbClr val="0F172A"/>
                </a:solidFill>
              </a:defRPr>
            </a:pPr>
            <a:r>
              <a:t>retrieve_runbook</a:t>
            </a:r>
            <a:br/>
            <a:r>
              <a:t>llm_rca_reasoning</a:t>
            </a:r>
          </a:p>
          <a:p>
            <a:pPr>
              <a:spcBef>
                <a:spcPts val="800"/>
              </a:spcBef>
              <a:defRPr sz="800">
                <a:solidFill>
                  <a:srgbClr val="334155"/>
                </a:solidFill>
              </a:defRPr>
            </a:pPr>
            <a:r>
              <a:t>• Extracts symptoms from alert metadata</a:t>
            </a:r>
            <a:br/>
            <a:r>
              <a:t>• TF-IDF cosine similarity search over 5 runbooks</a:t>
            </a:r>
            <a:br/>
            <a:r>
              <a:t>• Google Gemini 3.5 Flash Lite cognitive RCA</a:t>
            </a:r>
            <a:br/>
            <a:r>
              <a:t>• Structured JSON output (root cause, action, confidence)</a:t>
            </a:r>
          </a:p>
        </p:txBody>
      </p:sp>
      <p:sp>
        <p:nvSpPr>
          <p:cNvPr id="9" name="Rounded Rectangle 8"/>
          <p:cNvSpPr/>
          <p:nvPr/>
        </p:nvSpPr>
        <p:spPr>
          <a:xfrm>
            <a:off x="6172200" y="2240280"/>
            <a:ext cx="2542032" cy="4114800"/>
          </a:xfrm>
          <a:prstGeom prst="roundRect">
            <a:avLst/>
          </a:prstGeom>
          <a:solidFill>
            <a:srgbClr val="FAF5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1100">
                <a:solidFill>
                  <a:srgbClr val="7C3AED"/>
                </a:solidFill>
                <a:latin typeface="Segoe UI"/>
              </a:defRPr>
            </a:pPr>
            <a:r>
              <a:t>3. GATEKEEP PHASE</a:t>
            </a:r>
          </a:p>
          <a:p>
            <a:pPr>
              <a:spcBef>
                <a:spcPts val="400"/>
              </a:spcBef>
              <a:defRPr b="1" sz="850">
                <a:solidFill>
                  <a:srgbClr val="0F172A"/>
                </a:solidFill>
              </a:defRPr>
            </a:pPr>
            <a:r>
              <a:t>policy_gatekeeper</a:t>
            </a:r>
            <a:br/>
            <a:r>
              <a:t>(Human Approval Gate)</a:t>
            </a:r>
          </a:p>
          <a:p>
            <a:pPr>
              <a:spcBef>
                <a:spcPts val="800"/>
              </a:spcBef>
              <a:defRPr sz="800">
                <a:solidFill>
                  <a:srgbClr val="334155"/>
                </a:solidFill>
              </a:defRPr>
            </a:pPr>
            <a:r>
              <a:t>• Strict 5-command action allowlist validation</a:t>
            </a:r>
            <a:br/>
            <a:r>
              <a:t>• Blocks arbitrary bash/sh interactive shells</a:t>
            </a:r>
            <a:br/>
            <a:r>
              <a:t>• Protected services (payment) shift to PENDING_APPROVAL</a:t>
            </a:r>
            <a:br/>
            <a:r>
              <a:t>• SRE operator reviews &amp; authorizes in War Room</a:t>
            </a:r>
          </a:p>
        </p:txBody>
      </p:sp>
      <p:sp>
        <p:nvSpPr>
          <p:cNvPr id="10" name="Rounded Rectangle 9"/>
          <p:cNvSpPr/>
          <p:nvPr/>
        </p:nvSpPr>
        <p:spPr>
          <a:xfrm>
            <a:off x="8887968" y="2240280"/>
            <a:ext cx="2542032" cy="4114800"/>
          </a:xfrm>
          <a:prstGeom prst="roundRect">
            <a:avLst/>
          </a:prstGeom>
          <a:solidFill>
            <a:srgbClr val="F2F9F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1100">
                <a:solidFill>
                  <a:srgbClr val="10B981"/>
                </a:solidFill>
                <a:latin typeface="Segoe UI"/>
              </a:defRPr>
            </a:pPr>
            <a:r>
              <a:t>4. ACT &amp; VERIFY</a:t>
            </a:r>
          </a:p>
          <a:p>
            <a:pPr>
              <a:spcBef>
                <a:spcPts val="400"/>
              </a:spcBef>
              <a:defRPr b="1" sz="850">
                <a:solidFill>
                  <a:srgbClr val="0F172A"/>
                </a:solidFill>
              </a:defRPr>
            </a:pPr>
            <a:r>
              <a:t>execute_remediation</a:t>
            </a:r>
            <a:br/>
            <a:r>
              <a:t>verify_health, commit_audit</a:t>
            </a:r>
          </a:p>
          <a:p>
            <a:pPr>
              <a:spcBef>
                <a:spcPts val="800"/>
              </a:spcBef>
              <a:defRPr sz="800">
                <a:solidFill>
                  <a:srgbClr val="334155"/>
                </a:solidFill>
              </a:defRPr>
            </a:pPr>
            <a:r>
              <a:t>• Invokes safe container restart via Docker SDK</a:t>
            </a:r>
            <a:br/>
            <a:r>
              <a:t>• Automated /health polling loop (3 retries, backoff)</a:t>
            </a:r>
            <a:br/>
            <a:r>
              <a:t>• Verifies latency drops &amp; HTTP 200 OK returned</a:t>
            </a:r>
            <a:br/>
            <a:r>
              <a:t>• Commits permanent record to SQLite audit ledger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2560320" cy="411480"/>
          </a:xfrm>
          <a:prstGeom prst="rect">
            <a:avLst/>
          </a:prstGeom>
          <a:noFill/>
        </p:spPr>
        <p:txBody>
          <a:bodyPr wrap="none" lIns="0" tIns="0">
            <a:spAutoFit/>
          </a:bodyPr>
          <a:lstStyle/>
          <a:p>
            <a:r>
              <a:rPr sz="1400" b="1">
                <a:solidFill>
                  <a:srgbClr val="2563EB"/>
                </a:solidFill>
                <a:latin typeface="Segoe UI"/>
              </a:rPr>
              <a:t>Auto</a:t>
            </a:r>
            <a:r>
              <a:rPr sz="1400" b="1">
                <a:solidFill>
                  <a:srgbClr val="0EA5E9"/>
                </a:solidFill>
                <a:latin typeface="Segoe UI"/>
              </a:rPr>
              <a:t>SRE</a:t>
            </a:r>
            <a:r>
              <a:rPr sz="1100" b="1">
                <a:solidFill>
                  <a:srgbClr val="64748B"/>
                </a:solidFill>
                <a:latin typeface="Segoe UI"/>
              </a:rPr>
              <a:t> // SAD</a:t>
            </a:r>
          </a:p>
        </p:txBody>
      </p:sp>
      <p:sp>
        <p:nvSpPr>
          <p:cNvPr id="4" name="TextBox 3"/>
          <p:cNvSpPr txBox="1"/>
          <p:nvPr/>
        </p:nvSpPr>
        <p:spPr>
          <a:xfrm>
            <a:off x="3108960" y="256032"/>
            <a:ext cx="5943600" cy="548640"/>
          </a:xfrm>
          <a:prstGeom prst="rect">
            <a:avLst/>
          </a:prstGeom>
          <a:noFill/>
        </p:spPr>
        <p:txBody>
          <a:bodyPr wrap="none" lIns="0" tIns="0">
            <a:spAutoFit/>
          </a:bodyPr>
          <a:lstStyle/>
          <a:p>
            <a:pPr algn="ctr">
              <a:defRPr sz="2100" b="1">
                <a:solidFill>
                  <a:srgbClr val="0F172A"/>
                </a:solidFill>
                <a:latin typeface="Georgia"/>
              </a:defRPr>
            </a:pPr>
            <a:r>
              <a:t>QUALITY ATTRIBUTES &amp; ARCHITECTURAL DECISION RECORDS</a:t>
            </a:r>
          </a:p>
        </p:txBody>
      </p:sp>
      <p:sp>
        <p:nvSpPr>
          <p:cNvPr id="5" name="Rounded Rectangle 4"/>
          <p:cNvSpPr/>
          <p:nvPr/>
        </p:nvSpPr>
        <p:spPr>
          <a:xfrm>
            <a:off x="9235440" y="292608"/>
            <a:ext cx="2194560" cy="384048"/>
          </a:xfrm>
          <a:prstGeom prst="roundRect">
            <a:avLst/>
          </a:prstGeom>
          <a:solidFill>
            <a:srgbClr val="F0F7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2563EB"/>
                </a:solidFill>
                <a:latin typeface="Segoe UI"/>
              </a:defRPr>
            </a:pPr>
            <a:r>
              <a:t>SAD ACADEMIC DEFENSE 2026</a:t>
            </a:r>
          </a:p>
        </p:txBody>
      </p:sp>
      <p:sp>
        <p:nvSpPr>
          <p:cNvPr id="6" name="Rounded Rectangle 5"/>
          <p:cNvSpPr/>
          <p:nvPr/>
        </p:nvSpPr>
        <p:spPr>
          <a:xfrm>
            <a:off x="731520" y="1051560"/>
            <a:ext cx="5212080" cy="5349240"/>
          </a:xfrm>
          <a:prstGeom prst="roundRect">
            <a:avLst/>
          </a:prstGeom>
          <a:solidFill>
            <a:srgbClr val="F0F7FF"/>
          </a:solidFill>
          <a:ln w="254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188720"/>
            <a:ext cx="4846320" cy="365760"/>
          </a:xfrm>
          <a:prstGeom prst="rect">
            <a:avLst/>
          </a:prstGeom>
          <a:noFill/>
        </p:spPr>
        <p:txBody>
          <a:bodyPr wrap="none">
            <a:spAutoFit/>
          </a:bodyPr>
          <a:lstStyle/>
          <a:p>
            <a:pPr>
              <a:defRPr b="1" sz="1400">
                <a:solidFill>
                  <a:srgbClr val="2563EB"/>
                </a:solidFill>
                <a:latin typeface="Georgia"/>
              </a:defRPr>
            </a:pPr>
            <a:r>
              <a:t>🎯 Non-Functional Requirements (NFRs)</a:t>
            </a:r>
          </a:p>
        </p:txBody>
      </p:sp>
      <p:sp>
        <p:nvSpPr>
          <p:cNvPr id="8" name="Rounded Rectangle 7"/>
          <p:cNvSpPr/>
          <p:nvPr/>
        </p:nvSpPr>
        <p:spPr>
          <a:xfrm>
            <a:off x="914400" y="1691640"/>
            <a:ext cx="4846320"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2563EB"/>
                </a:solidFill>
              </a:defRPr>
            </a:pPr>
            <a:r>
              <a:t>Availability (MTTR &lt;15s):</a:t>
            </a:r>
          </a:p>
          <a:p>
            <a:pPr>
              <a:spcBef>
                <a:spcPts val="100"/>
              </a:spcBef>
              <a:defRPr sz="800">
                <a:solidFill>
                  <a:srgbClr val="334155"/>
                </a:solidFill>
              </a:defRPr>
            </a:pPr>
            <a:r>
              <a:t>Continuous autonomous self-healing. Dual-mode heuristic fallback ensures 100% control plane uptime even during external API downtime.</a:t>
            </a:r>
          </a:p>
        </p:txBody>
      </p:sp>
      <p:sp>
        <p:nvSpPr>
          <p:cNvPr id="9" name="Rounded Rectangle 8"/>
          <p:cNvSpPr/>
          <p:nvPr/>
        </p:nvSpPr>
        <p:spPr>
          <a:xfrm>
            <a:off x="914400" y="2587752"/>
            <a:ext cx="4846320"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2563EB"/>
                </a:solidFill>
              </a:defRPr>
            </a:pPr>
            <a:r>
              <a:t>Security &amp; Safety:</a:t>
            </a:r>
          </a:p>
          <a:p>
            <a:pPr>
              <a:spcBef>
                <a:spcPts val="100"/>
              </a:spcBef>
              <a:defRPr sz="800">
                <a:solidFill>
                  <a:srgbClr val="334155"/>
                </a:solidFill>
              </a:defRPr>
            </a:pPr>
            <a:r>
              <a:t>Deterministic Zero-Shell boundary blocks all arbitrary command execution. High-blast-radius targets require explicit cryptographic human sign-off.</a:t>
            </a:r>
          </a:p>
        </p:txBody>
      </p:sp>
      <p:sp>
        <p:nvSpPr>
          <p:cNvPr id="10" name="Rounded Rectangle 9"/>
          <p:cNvSpPr/>
          <p:nvPr/>
        </p:nvSpPr>
        <p:spPr>
          <a:xfrm>
            <a:off x="914400" y="3483864"/>
            <a:ext cx="4846320"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2563EB"/>
                </a:solidFill>
              </a:defRPr>
            </a:pPr>
            <a:r>
              <a:t>Performance &amp; Latency:</a:t>
            </a:r>
          </a:p>
          <a:p>
            <a:pPr>
              <a:spcBef>
                <a:spcPts val="100"/>
              </a:spcBef>
              <a:defRPr sz="800">
                <a:solidFill>
                  <a:srgbClr val="334155"/>
                </a:solidFill>
              </a:defRPr>
            </a:pPr>
            <a:r>
              <a:t>Drain log parsing and Isolation Forest inference complete in &lt;8ms. SQLite WAL journaling allows lock-free concurrent reads without thread blocking.</a:t>
            </a:r>
          </a:p>
        </p:txBody>
      </p:sp>
      <p:sp>
        <p:nvSpPr>
          <p:cNvPr id="11" name="Rounded Rectangle 10"/>
          <p:cNvSpPr/>
          <p:nvPr/>
        </p:nvSpPr>
        <p:spPr>
          <a:xfrm>
            <a:off x="914400" y="4379976"/>
            <a:ext cx="4846320"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2563EB"/>
                </a:solidFill>
              </a:defRPr>
            </a:pPr>
            <a:r>
              <a:t>Modularity &amp; Maintainability:</a:t>
            </a:r>
          </a:p>
          <a:p>
            <a:pPr>
              <a:spcBef>
                <a:spcPts val="100"/>
              </a:spcBef>
              <a:defRPr sz="800">
                <a:solidFill>
                  <a:srgbClr val="334155"/>
                </a:solidFill>
              </a:defRPr>
            </a:pPr>
            <a:r>
              <a:t>Layered boundaries allow independent component upgrades (e.g. swapping Gemini with Claude, or SQLite with PostgreSQL) with zero ripple effects.</a:t>
            </a:r>
          </a:p>
        </p:txBody>
      </p:sp>
      <p:sp>
        <p:nvSpPr>
          <p:cNvPr id="12" name="Rounded Rectangle 11"/>
          <p:cNvSpPr/>
          <p:nvPr/>
        </p:nvSpPr>
        <p:spPr>
          <a:xfrm>
            <a:off x="914400" y="5276088"/>
            <a:ext cx="4846320"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2563EB"/>
                </a:solidFill>
              </a:defRPr>
            </a:pPr>
            <a:r>
              <a:t>Explainability &amp; Auditability:</a:t>
            </a:r>
          </a:p>
          <a:p>
            <a:pPr>
              <a:spcBef>
                <a:spcPts val="100"/>
              </a:spcBef>
              <a:defRPr sz="800">
                <a:solidFill>
                  <a:srgbClr val="334155"/>
                </a:solidFill>
              </a:defRPr>
            </a:pPr>
            <a:r>
              <a:t>Every AI diagnosis cites specific runbook chunks and outputs a confidence score (0.0 to 1.0). Every action is permanently written to the audit ledger.</a:t>
            </a:r>
          </a:p>
        </p:txBody>
      </p:sp>
      <p:sp>
        <p:nvSpPr>
          <p:cNvPr id="13" name="Rounded Rectangle 12"/>
          <p:cNvSpPr/>
          <p:nvPr/>
        </p:nvSpPr>
        <p:spPr>
          <a:xfrm>
            <a:off x="6217920" y="1051560"/>
            <a:ext cx="5212080" cy="5349240"/>
          </a:xfrm>
          <a:prstGeom prst="roundRect">
            <a:avLst/>
          </a:prstGeom>
          <a:solidFill>
            <a:srgbClr val="FFFAF0"/>
          </a:solidFill>
          <a:ln w="254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188720"/>
            <a:ext cx="4846320" cy="365760"/>
          </a:xfrm>
          <a:prstGeom prst="rect">
            <a:avLst/>
          </a:prstGeom>
          <a:noFill/>
        </p:spPr>
        <p:txBody>
          <a:bodyPr wrap="none">
            <a:spAutoFit/>
          </a:bodyPr>
          <a:lstStyle/>
          <a:p>
            <a:pPr>
              <a:defRPr b="1" sz="1400">
                <a:solidFill>
                  <a:srgbClr val="D97706"/>
                </a:solidFill>
                <a:latin typeface="Georgia"/>
              </a:defRPr>
            </a:pPr>
            <a:r>
              <a:t>📋 Architectural Decision Records (ADRs)</a:t>
            </a:r>
          </a:p>
        </p:txBody>
      </p:sp>
      <p:sp>
        <p:nvSpPr>
          <p:cNvPr id="15" name="Rounded Rectangle 14"/>
          <p:cNvSpPr/>
          <p:nvPr/>
        </p:nvSpPr>
        <p:spPr>
          <a:xfrm>
            <a:off x="6400800" y="1691640"/>
            <a:ext cx="4846320"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D97706"/>
                </a:solidFill>
              </a:defRPr>
            </a:pPr>
            <a:r>
              <a:t>ADR-01: LangGraph FSM vs. Linear Chains</a:t>
            </a:r>
          </a:p>
          <a:p>
            <a:pPr>
              <a:spcBef>
                <a:spcPts val="100"/>
              </a:spcBef>
              <a:defRPr sz="800">
                <a:solidFill>
                  <a:srgbClr val="334155"/>
                </a:solidFill>
              </a:defRPr>
            </a:pPr>
            <a:r>
              <a:t>Adopted cyclic state machine to support retry verification loops and human pause states; linear chains cannot loop safely.</a:t>
            </a:r>
          </a:p>
        </p:txBody>
      </p:sp>
      <p:sp>
        <p:nvSpPr>
          <p:cNvPr id="16" name="Rounded Rectangle 15"/>
          <p:cNvSpPr/>
          <p:nvPr/>
        </p:nvSpPr>
        <p:spPr>
          <a:xfrm>
            <a:off x="6400800" y="2587752"/>
            <a:ext cx="4846320"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D97706"/>
                </a:solidFill>
              </a:defRPr>
            </a:pPr>
            <a:r>
              <a:t>ADR-02: Zero-Shell Policy vs. Free Bash Shell</a:t>
            </a:r>
          </a:p>
          <a:p>
            <a:pPr>
              <a:spcBef>
                <a:spcPts val="100"/>
              </a:spcBef>
              <a:defRPr sz="800">
                <a:solidFill>
                  <a:srgbClr val="334155"/>
                </a:solidFill>
              </a:defRPr>
            </a:pPr>
            <a:r>
              <a:t>Adopted strict 5-action allowlist; completely eliminates the risk of catastrophic AI hallucinations (e.g. rm -rf /).</a:t>
            </a:r>
          </a:p>
        </p:txBody>
      </p:sp>
      <p:sp>
        <p:nvSpPr>
          <p:cNvPr id="17" name="Rounded Rectangle 16"/>
          <p:cNvSpPr/>
          <p:nvPr/>
        </p:nvSpPr>
        <p:spPr>
          <a:xfrm>
            <a:off x="6400800" y="3483864"/>
            <a:ext cx="4846320"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D97706"/>
                </a:solidFill>
              </a:defRPr>
            </a:pPr>
            <a:r>
              <a:t>ADR-03: Isolation Forest vs. LLM Log Parsing</a:t>
            </a:r>
          </a:p>
          <a:p>
            <a:pPr>
              <a:spcBef>
                <a:spcPts val="100"/>
              </a:spcBef>
              <a:defRPr sz="800">
                <a:solidFill>
                  <a:srgbClr val="334155"/>
                </a:solidFill>
              </a:defRPr>
            </a:pPr>
            <a:r>
              <a:t>Adopted unsupervised ML for log scoring; achieves &lt;8ms latency and linear time complexity without expensive cloud API token bills.</a:t>
            </a:r>
          </a:p>
        </p:txBody>
      </p:sp>
      <p:sp>
        <p:nvSpPr>
          <p:cNvPr id="18" name="Rounded Rectangle 17"/>
          <p:cNvSpPr/>
          <p:nvPr/>
        </p:nvSpPr>
        <p:spPr>
          <a:xfrm>
            <a:off x="6400800" y="4379976"/>
            <a:ext cx="4846320"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D97706"/>
                </a:solidFill>
              </a:defRPr>
            </a:pPr>
            <a:r>
              <a:t>ADR-04: SQLite 3 WAL vs. External PostgreSQL</a:t>
            </a:r>
          </a:p>
          <a:p>
            <a:pPr>
              <a:spcBef>
                <a:spcPts val="100"/>
              </a:spcBef>
              <a:defRPr sz="800">
                <a:solidFill>
                  <a:srgbClr val="334155"/>
                </a:solidFill>
              </a:defRPr>
            </a:pPr>
            <a:r>
              <a:t>Adopted embedded SQLite with WAL journaling for zero external operational dependencies, zero-admin setup, and ACID reliability.</a:t>
            </a:r>
          </a:p>
        </p:txBody>
      </p:sp>
      <p:sp>
        <p:nvSpPr>
          <p:cNvPr id="19" name="Rounded Rectangle 18"/>
          <p:cNvSpPr/>
          <p:nvPr/>
        </p:nvSpPr>
        <p:spPr>
          <a:xfrm>
            <a:off x="6400800" y="5276088"/>
            <a:ext cx="4846320"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D97706"/>
                </a:solidFill>
              </a:defRPr>
            </a:pPr>
            <a:r>
              <a:t>ADR-05: Hybrid Runbook RAG vs. Fine-Tuning</a:t>
            </a:r>
          </a:p>
          <a:p>
            <a:pPr>
              <a:spcBef>
                <a:spcPts val="100"/>
              </a:spcBef>
              <a:defRPr sz="800">
                <a:solidFill>
                  <a:srgbClr val="334155"/>
                </a:solidFill>
              </a:defRPr>
            </a:pPr>
            <a:r>
              <a:t>Adopted TF-IDF Markdown RAG; allows SRE engineers to update runbooks in real-time as markdown files without slow model retraining.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2560320" cy="411480"/>
          </a:xfrm>
          <a:prstGeom prst="rect">
            <a:avLst/>
          </a:prstGeom>
          <a:noFill/>
        </p:spPr>
        <p:txBody>
          <a:bodyPr wrap="none" lIns="0" tIns="0">
            <a:spAutoFit/>
          </a:bodyPr>
          <a:lstStyle/>
          <a:p>
            <a:r>
              <a:rPr sz="1400" b="1">
                <a:solidFill>
                  <a:srgbClr val="2563EB"/>
                </a:solidFill>
                <a:latin typeface="Segoe UI"/>
              </a:rPr>
              <a:t>Auto</a:t>
            </a:r>
            <a:r>
              <a:rPr sz="1400" b="1">
                <a:solidFill>
                  <a:srgbClr val="0EA5E9"/>
                </a:solidFill>
                <a:latin typeface="Segoe UI"/>
              </a:rPr>
              <a:t>SRE</a:t>
            </a:r>
            <a:r>
              <a:rPr sz="1100" b="1">
                <a:solidFill>
                  <a:srgbClr val="64748B"/>
                </a:solidFill>
                <a:latin typeface="Segoe UI"/>
              </a:rPr>
              <a:t> // SAD</a:t>
            </a:r>
          </a:p>
        </p:txBody>
      </p:sp>
      <p:sp>
        <p:nvSpPr>
          <p:cNvPr id="4" name="TextBox 3"/>
          <p:cNvSpPr txBox="1"/>
          <p:nvPr/>
        </p:nvSpPr>
        <p:spPr>
          <a:xfrm>
            <a:off x="3108960" y="256032"/>
            <a:ext cx="5943600" cy="548640"/>
          </a:xfrm>
          <a:prstGeom prst="rect">
            <a:avLst/>
          </a:prstGeom>
          <a:noFill/>
        </p:spPr>
        <p:txBody>
          <a:bodyPr wrap="none" lIns="0" tIns="0">
            <a:spAutoFit/>
          </a:bodyPr>
          <a:lstStyle/>
          <a:p>
            <a:pPr algn="ctr">
              <a:defRPr sz="2100" b="1">
                <a:solidFill>
                  <a:srgbClr val="0F172A"/>
                </a:solidFill>
                <a:latin typeface="Georgia"/>
              </a:defRPr>
            </a:pPr>
            <a:r>
              <a:t>VISUAL OPERATIONAL COCKPIT: 4-PANEL SHOWCASE</a:t>
            </a:r>
          </a:p>
        </p:txBody>
      </p:sp>
      <p:sp>
        <p:nvSpPr>
          <p:cNvPr id="5" name="Rounded Rectangle 4"/>
          <p:cNvSpPr/>
          <p:nvPr/>
        </p:nvSpPr>
        <p:spPr>
          <a:xfrm>
            <a:off x="9235440" y="292608"/>
            <a:ext cx="2194560" cy="384048"/>
          </a:xfrm>
          <a:prstGeom prst="roundRect">
            <a:avLst/>
          </a:prstGeom>
          <a:solidFill>
            <a:srgbClr val="F0F7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2563EB"/>
                </a:solidFill>
                <a:latin typeface="Segoe UI"/>
              </a:defRPr>
            </a:pPr>
            <a:r>
              <a:t>SAD ACADEMIC DEFENSE 2026</a:t>
            </a:r>
          </a:p>
        </p:txBody>
      </p:sp>
      <p:sp>
        <p:nvSpPr>
          <p:cNvPr id="6" name="Rounded Rectangle 5"/>
          <p:cNvSpPr/>
          <p:nvPr/>
        </p:nvSpPr>
        <p:spPr>
          <a:xfrm>
            <a:off x="731520" y="1097280"/>
            <a:ext cx="5212080" cy="2542032"/>
          </a:xfrm>
          <a:prstGeom prst="roundRect">
            <a:avLst/>
          </a:prstGeom>
          <a:solidFill>
            <a:srgbClr val="F0F7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emini_rca_war_room_1791068379213.png"/>
          <p:cNvPicPr>
            <a:picLocks noChangeAspect="1"/>
          </p:cNvPicPr>
          <p:nvPr/>
        </p:nvPicPr>
        <p:blipFill>
          <a:blip r:embed="rId2"/>
          <a:stretch>
            <a:fillRect/>
          </a:stretch>
        </p:blipFill>
        <p:spPr>
          <a:xfrm>
            <a:off x="804672" y="1170432"/>
            <a:ext cx="5065776" cy="2148840"/>
          </a:xfrm>
          <a:prstGeom prst="rect">
            <a:avLst/>
          </a:prstGeom>
        </p:spPr>
      </p:pic>
      <p:sp>
        <p:nvSpPr>
          <p:cNvPr id="8" name="TextBox 7"/>
          <p:cNvSpPr txBox="1"/>
          <p:nvPr/>
        </p:nvSpPr>
        <p:spPr>
          <a:xfrm>
            <a:off x="822960" y="3346704"/>
            <a:ext cx="5029200" cy="256032"/>
          </a:xfrm>
          <a:prstGeom prst="rect">
            <a:avLst/>
          </a:prstGeom>
          <a:noFill/>
        </p:spPr>
        <p:txBody>
          <a:bodyPr wrap="square" lIns="0" tIns="0">
            <a:spAutoFit/>
          </a:bodyPr>
          <a:lstStyle/>
          <a:p>
            <a:pPr>
              <a:defRPr sz="800" b="1">
                <a:solidFill>
                  <a:srgbClr val="2563EB"/>
                </a:solidFill>
                <a:latin typeface="Segoe UI"/>
              </a:defRPr>
            </a:pPr>
            <a:r>
              <a:t>Fig 1: Incident War Room — Gemini 3.5 Lite RCA, 0.95 Confidence &amp; Execution Log</a:t>
            </a:r>
          </a:p>
        </p:txBody>
      </p:sp>
      <p:sp>
        <p:nvSpPr>
          <p:cNvPr id="9" name="Rounded Rectangle 8"/>
          <p:cNvSpPr/>
          <p:nvPr/>
        </p:nvSpPr>
        <p:spPr>
          <a:xfrm>
            <a:off x="6217920" y="1097280"/>
            <a:ext cx="5212080" cy="2542032"/>
          </a:xfrm>
          <a:prstGeom prst="roundRect">
            <a:avLst/>
          </a:prstGeom>
          <a:solidFill>
            <a:srgbClr val="FFFAF0"/>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onnected_cafe_state_1791067700862.png"/>
          <p:cNvPicPr>
            <a:picLocks noChangeAspect="1"/>
          </p:cNvPicPr>
          <p:nvPr/>
        </p:nvPicPr>
        <p:blipFill>
          <a:blip r:embed="rId3"/>
          <a:stretch>
            <a:fillRect/>
          </a:stretch>
        </p:blipFill>
        <p:spPr>
          <a:xfrm>
            <a:off x="6291072" y="1170432"/>
            <a:ext cx="5065776" cy="2148840"/>
          </a:xfrm>
          <a:prstGeom prst="rect">
            <a:avLst/>
          </a:prstGeom>
        </p:spPr>
      </p:pic>
      <p:sp>
        <p:nvSpPr>
          <p:cNvPr id="11" name="TextBox 10"/>
          <p:cNvSpPr txBox="1"/>
          <p:nvPr/>
        </p:nvSpPr>
        <p:spPr>
          <a:xfrm>
            <a:off x="6309360" y="3346704"/>
            <a:ext cx="5029200" cy="256032"/>
          </a:xfrm>
          <a:prstGeom prst="rect">
            <a:avLst/>
          </a:prstGeom>
          <a:noFill/>
        </p:spPr>
        <p:txBody>
          <a:bodyPr wrap="square" lIns="0" tIns="0">
            <a:spAutoFit/>
          </a:bodyPr>
          <a:lstStyle/>
          <a:p>
            <a:pPr>
              <a:defRPr sz="800" b="1">
                <a:solidFill>
                  <a:srgbClr val="D97706"/>
                </a:solidFill>
                <a:latin typeface="Segoe UI"/>
              </a:defRPr>
            </a:pPr>
            <a:r>
              <a:t>Fig 2: Executive Fleet Mesh Topology — Live Interactive SVG Nodes &amp; Latencies</a:t>
            </a:r>
          </a:p>
        </p:txBody>
      </p:sp>
      <p:sp>
        <p:nvSpPr>
          <p:cNvPr id="12" name="Rounded Rectangle 11"/>
          <p:cNvSpPr/>
          <p:nvPr/>
        </p:nvSpPr>
        <p:spPr>
          <a:xfrm>
            <a:off x="731520" y="3794760"/>
            <a:ext cx="5212080" cy="2542032"/>
          </a:xfrm>
          <a:prstGeom prst="roundRect">
            <a:avLst/>
          </a:prstGeom>
          <a:solidFill>
            <a:srgbClr val="FAF5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ndpoint_discovery_modal_1791066127753.png"/>
          <p:cNvPicPr>
            <a:picLocks noChangeAspect="1"/>
          </p:cNvPicPr>
          <p:nvPr/>
        </p:nvPicPr>
        <p:blipFill>
          <a:blip r:embed="rId4"/>
          <a:stretch>
            <a:fillRect/>
          </a:stretch>
        </p:blipFill>
        <p:spPr>
          <a:xfrm>
            <a:off x="804672" y="3867912"/>
            <a:ext cx="5065776" cy="2148840"/>
          </a:xfrm>
          <a:prstGeom prst="rect">
            <a:avLst/>
          </a:prstGeom>
        </p:spPr>
      </p:pic>
      <p:sp>
        <p:nvSpPr>
          <p:cNvPr id="14" name="TextBox 13"/>
          <p:cNvSpPr txBox="1"/>
          <p:nvPr/>
        </p:nvSpPr>
        <p:spPr>
          <a:xfrm>
            <a:off x="822960" y="6044184"/>
            <a:ext cx="5029200" cy="256032"/>
          </a:xfrm>
          <a:prstGeom prst="rect">
            <a:avLst/>
          </a:prstGeom>
          <a:noFill/>
        </p:spPr>
        <p:txBody>
          <a:bodyPr wrap="square" lIns="0" tIns="0">
            <a:spAutoFit/>
          </a:bodyPr>
          <a:lstStyle/>
          <a:p>
            <a:pPr>
              <a:defRPr sz="800" b="1">
                <a:solidFill>
                  <a:srgbClr val="7C3AED"/>
                </a:solidFill>
                <a:latin typeface="Segoe UI"/>
              </a:defRPr>
            </a:pPr>
            <a:r>
              <a:t>Fig 3: Dynamic Endpoint Discovery — Target Application Registration &amp; Auto-Heal Toggle</a:t>
            </a:r>
          </a:p>
        </p:txBody>
      </p:sp>
      <p:sp>
        <p:nvSpPr>
          <p:cNvPr id="15" name="Rounded Rectangle 14"/>
          <p:cNvSpPr/>
          <p:nvPr/>
        </p:nvSpPr>
        <p:spPr>
          <a:xfrm>
            <a:off x="6217920" y="3794760"/>
            <a:ext cx="5212080" cy="2542032"/>
          </a:xfrm>
          <a:prstGeom prst="roundRect">
            <a:avLst/>
          </a:prstGeom>
          <a:solidFill>
            <a:srgbClr val="F2F9F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afe_devops_chaos_lab_1791062764320.png"/>
          <p:cNvPicPr>
            <a:picLocks noChangeAspect="1"/>
          </p:cNvPicPr>
          <p:nvPr/>
        </p:nvPicPr>
        <p:blipFill>
          <a:blip r:embed="rId5"/>
          <a:stretch>
            <a:fillRect/>
          </a:stretch>
        </p:blipFill>
        <p:spPr>
          <a:xfrm>
            <a:off x="6291072" y="3867912"/>
            <a:ext cx="5065776" cy="2148840"/>
          </a:xfrm>
          <a:prstGeom prst="rect">
            <a:avLst/>
          </a:prstGeom>
        </p:spPr>
      </p:pic>
      <p:sp>
        <p:nvSpPr>
          <p:cNvPr id="17" name="TextBox 16"/>
          <p:cNvSpPr txBox="1"/>
          <p:nvPr/>
        </p:nvSpPr>
        <p:spPr>
          <a:xfrm>
            <a:off x="6309360" y="6044184"/>
            <a:ext cx="5029200" cy="256032"/>
          </a:xfrm>
          <a:prstGeom prst="rect">
            <a:avLst/>
          </a:prstGeom>
          <a:noFill/>
        </p:spPr>
        <p:txBody>
          <a:bodyPr wrap="square" lIns="0" tIns="0">
            <a:spAutoFit/>
          </a:bodyPr>
          <a:lstStyle/>
          <a:p>
            <a:pPr>
              <a:defRPr sz="800" b="1">
                <a:solidFill>
                  <a:srgbClr val="10B981"/>
                </a:solidFill>
                <a:latin typeface="Segoe UI"/>
              </a:defRPr>
            </a:pPr>
            <a:r>
              <a:t>Fig 4: Target Application (Bella Vista Cafe) Built-in Chaos Injection Laboratory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2560320" cy="411480"/>
          </a:xfrm>
          <a:prstGeom prst="rect">
            <a:avLst/>
          </a:prstGeom>
          <a:noFill/>
        </p:spPr>
        <p:txBody>
          <a:bodyPr wrap="none" lIns="0" tIns="0">
            <a:spAutoFit/>
          </a:bodyPr>
          <a:lstStyle/>
          <a:p>
            <a:r>
              <a:rPr sz="1400" b="1">
                <a:solidFill>
                  <a:srgbClr val="2563EB"/>
                </a:solidFill>
                <a:latin typeface="Segoe UI"/>
              </a:rPr>
              <a:t>Auto</a:t>
            </a:r>
            <a:r>
              <a:rPr sz="1400" b="1">
                <a:solidFill>
                  <a:srgbClr val="0EA5E9"/>
                </a:solidFill>
                <a:latin typeface="Segoe UI"/>
              </a:rPr>
              <a:t>SRE</a:t>
            </a:r>
            <a:r>
              <a:rPr sz="1100" b="1">
                <a:solidFill>
                  <a:srgbClr val="64748B"/>
                </a:solidFill>
                <a:latin typeface="Segoe UI"/>
              </a:rPr>
              <a:t> // SAD</a:t>
            </a:r>
          </a:p>
        </p:txBody>
      </p:sp>
      <p:sp>
        <p:nvSpPr>
          <p:cNvPr id="4" name="TextBox 3"/>
          <p:cNvSpPr txBox="1"/>
          <p:nvPr/>
        </p:nvSpPr>
        <p:spPr>
          <a:xfrm>
            <a:off x="3108960" y="256032"/>
            <a:ext cx="5943600" cy="548640"/>
          </a:xfrm>
          <a:prstGeom prst="rect">
            <a:avLst/>
          </a:prstGeom>
          <a:noFill/>
        </p:spPr>
        <p:txBody>
          <a:bodyPr wrap="none" lIns="0" tIns="0">
            <a:spAutoFit/>
          </a:bodyPr>
          <a:lstStyle/>
          <a:p>
            <a:pPr algn="ctr">
              <a:defRPr sz="2100" b="1">
                <a:solidFill>
                  <a:srgbClr val="0F172A"/>
                </a:solidFill>
                <a:latin typeface="Georgia"/>
              </a:defRPr>
            </a:pPr>
            <a:r>
              <a:t>CASE STUDY: DATABASE POOL EXHAUSTION SELF-HEALING</a:t>
            </a:r>
          </a:p>
        </p:txBody>
      </p:sp>
      <p:sp>
        <p:nvSpPr>
          <p:cNvPr id="5" name="Rounded Rectangle 4"/>
          <p:cNvSpPr/>
          <p:nvPr/>
        </p:nvSpPr>
        <p:spPr>
          <a:xfrm>
            <a:off x="9235440" y="292608"/>
            <a:ext cx="2194560" cy="384048"/>
          </a:xfrm>
          <a:prstGeom prst="roundRect">
            <a:avLst/>
          </a:prstGeom>
          <a:solidFill>
            <a:srgbClr val="F0F7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2563EB"/>
                </a:solidFill>
                <a:latin typeface="Segoe UI"/>
              </a:defRPr>
            </a:pPr>
            <a:r>
              <a:t>SAD ACADEMIC DEFENSE 2026</a:t>
            </a:r>
          </a:p>
        </p:txBody>
      </p:sp>
      <p:sp>
        <p:nvSpPr>
          <p:cNvPr id="6" name="Rounded Rectangle 5"/>
          <p:cNvSpPr/>
          <p:nvPr/>
        </p:nvSpPr>
        <p:spPr>
          <a:xfrm>
            <a:off x="731520" y="1097280"/>
            <a:ext cx="3429000" cy="1536192"/>
          </a:xfrm>
          <a:prstGeom prst="roundRect">
            <a:avLst/>
          </a:prstGeom>
          <a:solidFill>
            <a:srgbClr val="F0F7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950">
                <a:solidFill>
                  <a:srgbClr val="2563EB"/>
                </a:solidFill>
                <a:latin typeface="Segoe UI"/>
              </a:defRPr>
            </a:pPr>
            <a:r>
              <a:t>STEP 1: CHAOS INJECTED</a:t>
            </a:r>
          </a:p>
          <a:p>
            <a:pPr>
              <a:spcBef>
                <a:spcPts val="400"/>
              </a:spcBef>
              <a:defRPr sz="850">
                <a:solidFill>
                  <a:srgbClr val="334155"/>
                </a:solidFill>
              </a:defRPr>
            </a:pPr>
            <a:r>
              <a:t>Chaos lab exhausts database connection pool (50/50 active connections) on payment-service.</a:t>
            </a:r>
          </a:p>
        </p:txBody>
      </p:sp>
      <p:sp>
        <p:nvSpPr>
          <p:cNvPr id="7" name="Rounded Rectangle 6"/>
          <p:cNvSpPr/>
          <p:nvPr/>
        </p:nvSpPr>
        <p:spPr>
          <a:xfrm>
            <a:off x="4370832" y="1097280"/>
            <a:ext cx="3429000" cy="1536192"/>
          </a:xfrm>
          <a:prstGeom prst="roundRect">
            <a:avLst/>
          </a:prstGeom>
          <a:solidFill>
            <a:srgbClr val="F0F7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950">
                <a:solidFill>
                  <a:srgbClr val="2563EB"/>
                </a:solidFill>
                <a:latin typeface="Segoe UI"/>
              </a:defRPr>
            </a:pPr>
            <a:r>
              <a:t>STEP 2: ANOMALY DETECTED</a:t>
            </a:r>
          </a:p>
          <a:p>
            <a:pPr>
              <a:spcBef>
                <a:spcPts val="400"/>
              </a:spcBef>
              <a:defRPr sz="850">
                <a:solidFill>
                  <a:srgbClr val="334155"/>
                </a:solidFill>
              </a:defRPr>
            </a:pPr>
            <a:r>
              <a:t>Telemetry scraper intercepts 5xx error surge; Drain parser scores template anomaly at -0.28 (&lt;8ms).</a:t>
            </a:r>
          </a:p>
        </p:txBody>
      </p:sp>
      <p:sp>
        <p:nvSpPr>
          <p:cNvPr id="8" name="Rounded Rectangle 7"/>
          <p:cNvSpPr/>
          <p:nvPr/>
        </p:nvSpPr>
        <p:spPr>
          <a:xfrm>
            <a:off x="8001000" y="1097280"/>
            <a:ext cx="3429000" cy="1536192"/>
          </a:xfrm>
          <a:prstGeom prst="roundRect">
            <a:avLst/>
          </a:prstGeom>
          <a:solidFill>
            <a:srgbClr val="F0F7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950">
                <a:solidFill>
                  <a:srgbClr val="2563EB"/>
                </a:solidFill>
                <a:latin typeface="Segoe UI"/>
              </a:defRPr>
            </a:pPr>
            <a:r>
              <a:t>STEP 3: RUNBOOK RETRIEVED</a:t>
            </a:r>
          </a:p>
          <a:p>
            <a:pPr>
              <a:spcBef>
                <a:spcPts val="400"/>
              </a:spcBef>
              <a:defRPr sz="850">
                <a:solidFill>
                  <a:srgbClr val="334155"/>
                </a:solidFill>
              </a:defRPr>
            </a:pPr>
            <a:r>
              <a:t>TF-IDF retriever matches database_connection_pool_exhausted.md runbook chunk with 0.89 cosine score.</a:t>
            </a:r>
          </a:p>
        </p:txBody>
      </p:sp>
      <p:sp>
        <p:nvSpPr>
          <p:cNvPr id="9" name="Rounded Rectangle 8"/>
          <p:cNvSpPr/>
          <p:nvPr/>
        </p:nvSpPr>
        <p:spPr>
          <a:xfrm>
            <a:off x="731520" y="2788920"/>
            <a:ext cx="3429000" cy="1536192"/>
          </a:xfrm>
          <a:prstGeom prst="roundRect">
            <a:avLst/>
          </a:prstGeom>
          <a:solidFill>
            <a:srgbClr val="FAF5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950">
                <a:solidFill>
                  <a:srgbClr val="7C3AED"/>
                </a:solidFill>
                <a:latin typeface="Segoe UI"/>
              </a:defRPr>
            </a:pPr>
            <a:r>
              <a:t>STEP 4: GEMINI RCA REASONED</a:t>
            </a:r>
          </a:p>
          <a:p>
            <a:pPr>
              <a:spcBef>
                <a:spcPts val="400"/>
              </a:spcBef>
              <a:defRPr sz="850">
                <a:solidFill>
                  <a:srgbClr val="334155"/>
                </a:solidFill>
              </a:defRPr>
            </a:pPr>
            <a:r>
              <a:t>Gemini 3.5 Lite diagnoses leaked connections; proposes restart_deployment with 0.95 confidence.</a:t>
            </a:r>
          </a:p>
        </p:txBody>
      </p:sp>
      <p:sp>
        <p:nvSpPr>
          <p:cNvPr id="10" name="Rounded Rectangle 9"/>
          <p:cNvSpPr/>
          <p:nvPr/>
        </p:nvSpPr>
        <p:spPr>
          <a:xfrm>
            <a:off x="4370832" y="2788920"/>
            <a:ext cx="3429000" cy="1536192"/>
          </a:xfrm>
          <a:prstGeom prst="roundRect">
            <a:avLst/>
          </a:prstGeom>
          <a:solidFill>
            <a:srgbClr val="FAF5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950">
                <a:solidFill>
                  <a:srgbClr val="7C3AED"/>
                </a:solidFill>
                <a:latin typeface="Segoe UI"/>
              </a:defRPr>
            </a:pPr>
            <a:r>
              <a:t>STEP 5: POLICY GATEKEEPER</a:t>
            </a:r>
          </a:p>
          <a:p>
            <a:pPr>
              <a:spcBef>
                <a:spcPts val="400"/>
              </a:spcBef>
              <a:defRPr sz="850">
                <a:solidFill>
                  <a:srgbClr val="334155"/>
                </a:solidFill>
              </a:defRPr>
            </a:pPr>
            <a:r>
              <a:t>Gatekeeper identifies payment-service as high-blast-radius; safely holds action in PENDING_APPROVAL.</a:t>
            </a:r>
          </a:p>
        </p:txBody>
      </p:sp>
      <p:sp>
        <p:nvSpPr>
          <p:cNvPr id="11" name="Rounded Rectangle 10"/>
          <p:cNvSpPr/>
          <p:nvPr/>
        </p:nvSpPr>
        <p:spPr>
          <a:xfrm>
            <a:off x="8001000" y="2788920"/>
            <a:ext cx="3429000" cy="1536192"/>
          </a:xfrm>
          <a:prstGeom prst="roundRect">
            <a:avLst/>
          </a:prstGeom>
          <a:solidFill>
            <a:srgbClr val="FAF5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950">
                <a:solidFill>
                  <a:srgbClr val="7C3AED"/>
                </a:solidFill>
                <a:latin typeface="Segoe UI"/>
              </a:defRPr>
            </a:pPr>
            <a:r>
              <a:t>STEP 6: HUMAN APPROVAL</a:t>
            </a:r>
          </a:p>
          <a:p>
            <a:pPr>
              <a:spcBef>
                <a:spcPts val="400"/>
              </a:spcBef>
              <a:defRPr sz="850">
                <a:solidFill>
                  <a:srgbClr val="334155"/>
                </a:solidFill>
              </a:defRPr>
            </a:pPr>
            <a:r>
              <a:t>SRE operator reviews RCA and confidence meter in War Room; clicks 'Approve Action' button.</a:t>
            </a:r>
          </a:p>
        </p:txBody>
      </p:sp>
      <p:sp>
        <p:nvSpPr>
          <p:cNvPr id="12" name="Rounded Rectangle 11"/>
          <p:cNvSpPr/>
          <p:nvPr/>
        </p:nvSpPr>
        <p:spPr>
          <a:xfrm>
            <a:off x="731520" y="4480560"/>
            <a:ext cx="3429000" cy="1536192"/>
          </a:xfrm>
          <a:prstGeom prst="roundRect">
            <a:avLst/>
          </a:prstGeom>
          <a:solidFill>
            <a:srgbClr val="F2F9F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950">
                <a:solidFill>
                  <a:srgbClr val="10B981"/>
                </a:solidFill>
                <a:latin typeface="Segoe UI"/>
              </a:defRPr>
            </a:pPr>
            <a:r>
              <a:t>STEP 7: SAFE TOOL EXECUTED</a:t>
            </a:r>
          </a:p>
          <a:p>
            <a:pPr>
              <a:spcBef>
                <a:spcPts val="400"/>
              </a:spcBef>
              <a:defRPr sz="850">
                <a:solidFill>
                  <a:srgbClr val="334155"/>
                </a:solidFill>
              </a:defRPr>
            </a:pPr>
            <a:r>
              <a:t>Tool executor issues safe container restart via Docker SDK without opening any bash shell.</a:t>
            </a:r>
          </a:p>
        </p:txBody>
      </p:sp>
      <p:sp>
        <p:nvSpPr>
          <p:cNvPr id="13" name="Rounded Rectangle 12"/>
          <p:cNvSpPr/>
          <p:nvPr/>
        </p:nvSpPr>
        <p:spPr>
          <a:xfrm>
            <a:off x="4370832" y="4480560"/>
            <a:ext cx="3429000" cy="1536192"/>
          </a:xfrm>
          <a:prstGeom prst="roundRect">
            <a:avLst/>
          </a:prstGeom>
          <a:solidFill>
            <a:srgbClr val="F2F9F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950">
                <a:solidFill>
                  <a:srgbClr val="10B981"/>
                </a:solidFill>
                <a:latin typeface="Segoe UI"/>
              </a:defRPr>
            </a:pPr>
            <a:r>
              <a:t>STEP 8: AUTOMATED VERIFICATION</a:t>
            </a:r>
          </a:p>
          <a:p>
            <a:pPr>
              <a:spcBef>
                <a:spcPts val="400"/>
              </a:spcBef>
              <a:defRPr sz="850">
                <a:solidFill>
                  <a:srgbClr val="334155"/>
                </a:solidFill>
              </a:defRPr>
            </a:pPr>
            <a:r>
              <a:t>Health probe polls /health across 3 retries; verifies latency drops to 4ms and returns HTTP 200 OK.</a:t>
            </a:r>
          </a:p>
        </p:txBody>
      </p:sp>
      <p:sp>
        <p:nvSpPr>
          <p:cNvPr id="14" name="Rounded Rectangle 13"/>
          <p:cNvSpPr/>
          <p:nvPr/>
        </p:nvSpPr>
        <p:spPr>
          <a:xfrm>
            <a:off x="8001000" y="4480560"/>
            <a:ext cx="3429000" cy="1536192"/>
          </a:xfrm>
          <a:prstGeom prst="roundRect">
            <a:avLst/>
          </a:prstGeom>
          <a:solidFill>
            <a:srgbClr val="F2F9F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09728" tIns="109728"/>
          <a:lstStyle/>
          <a:p>
            <a:pPr algn="ctr">
              <a:defRPr b="1" sz="950">
                <a:solidFill>
                  <a:srgbClr val="10B981"/>
                </a:solidFill>
                <a:latin typeface="Segoe UI"/>
              </a:defRPr>
            </a:pPr>
            <a:r>
              <a:t>STEP 9: AUDIT LOG COMMITTED</a:t>
            </a:r>
          </a:p>
          <a:p>
            <a:pPr>
              <a:spcBef>
                <a:spcPts val="400"/>
              </a:spcBef>
              <a:defRPr sz="850">
                <a:solidFill>
                  <a:srgbClr val="334155"/>
                </a:solidFill>
              </a:defRPr>
            </a:pPr>
            <a:r>
              <a:t>Incident marked 'resolved'; immutable record written to SQLite audit ledger. Total MTTR: 11.4 SECONDS!</a:t>
            </a:r>
          </a:p>
        </p:txBody>
      </p:sp>
      <p:sp>
        <p:nvSpPr>
          <p:cNvPr id="15" name="Rounded Rectangle 14"/>
          <p:cNvSpPr/>
          <p:nvPr/>
        </p:nvSpPr>
        <p:spPr>
          <a:xfrm>
            <a:off x="731520" y="6080760"/>
            <a:ext cx="10698480" cy="50292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900">
                <a:solidFill>
                  <a:srgbClr val="10B981"/>
                </a:solidFill>
              </a:defRPr>
            </a:pPr>
            <a:r>
              <a:t>🎯 EMPIRICAL OUTCOME: Mean Time to Resolve (MTTR) dropped from 60+ minutes (manual triage) to 11.4 SECONDS (AutoSRE closed loop) — 99.6% downtime reduction!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2560320" cy="411480"/>
          </a:xfrm>
          <a:prstGeom prst="rect">
            <a:avLst/>
          </a:prstGeom>
          <a:noFill/>
        </p:spPr>
        <p:txBody>
          <a:bodyPr wrap="none" lIns="0" tIns="0">
            <a:spAutoFit/>
          </a:bodyPr>
          <a:lstStyle/>
          <a:p>
            <a:r>
              <a:rPr sz="1400" b="1">
                <a:solidFill>
                  <a:srgbClr val="2563EB"/>
                </a:solidFill>
                <a:latin typeface="Segoe UI"/>
              </a:rPr>
              <a:t>Auto</a:t>
            </a:r>
            <a:r>
              <a:rPr sz="1400" b="1">
                <a:solidFill>
                  <a:srgbClr val="0EA5E9"/>
                </a:solidFill>
                <a:latin typeface="Segoe UI"/>
              </a:rPr>
              <a:t>SRE</a:t>
            </a:r>
            <a:r>
              <a:rPr sz="1100" b="1">
                <a:solidFill>
                  <a:srgbClr val="64748B"/>
                </a:solidFill>
                <a:latin typeface="Segoe UI"/>
              </a:rPr>
              <a:t> // SAD</a:t>
            </a:r>
          </a:p>
        </p:txBody>
      </p:sp>
      <p:sp>
        <p:nvSpPr>
          <p:cNvPr id="4" name="TextBox 3"/>
          <p:cNvSpPr txBox="1"/>
          <p:nvPr/>
        </p:nvSpPr>
        <p:spPr>
          <a:xfrm>
            <a:off x="3108960" y="256032"/>
            <a:ext cx="5943600" cy="548640"/>
          </a:xfrm>
          <a:prstGeom prst="rect">
            <a:avLst/>
          </a:prstGeom>
          <a:noFill/>
        </p:spPr>
        <p:txBody>
          <a:bodyPr wrap="none" lIns="0" tIns="0">
            <a:spAutoFit/>
          </a:bodyPr>
          <a:lstStyle/>
          <a:p>
            <a:pPr algn="ctr">
              <a:defRPr sz="2100" b="1">
                <a:solidFill>
                  <a:srgbClr val="0F172A"/>
                </a:solidFill>
                <a:latin typeface="Georgia"/>
              </a:defRPr>
            </a:pPr>
            <a:r>
              <a:t>IMPACT, BENEFITS &amp; STAKEHOLDER ARCHITECTURE</a:t>
            </a:r>
          </a:p>
        </p:txBody>
      </p:sp>
      <p:sp>
        <p:nvSpPr>
          <p:cNvPr id="5" name="Rounded Rectangle 4"/>
          <p:cNvSpPr/>
          <p:nvPr/>
        </p:nvSpPr>
        <p:spPr>
          <a:xfrm>
            <a:off x="9235440" y="292608"/>
            <a:ext cx="2194560" cy="384048"/>
          </a:xfrm>
          <a:prstGeom prst="roundRect">
            <a:avLst/>
          </a:prstGeom>
          <a:solidFill>
            <a:srgbClr val="F0F7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2563EB"/>
                </a:solidFill>
                <a:latin typeface="Segoe UI"/>
              </a:defRPr>
            </a:pPr>
            <a:r>
              <a:t>SAD ACADEMIC DEFENSE 2026</a:t>
            </a:r>
          </a:p>
        </p:txBody>
      </p:sp>
      <p:sp>
        <p:nvSpPr>
          <p:cNvPr id="6" name="Rounded Rectangle 5"/>
          <p:cNvSpPr/>
          <p:nvPr/>
        </p:nvSpPr>
        <p:spPr>
          <a:xfrm>
            <a:off x="731520" y="1097280"/>
            <a:ext cx="2377440" cy="868680"/>
          </a:xfrm>
          <a:prstGeom prst="roundRect">
            <a:avLst/>
          </a:prstGeom>
          <a:solidFill>
            <a:srgbClr val="FFFAF0"/>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b="1" sz="950">
                <a:solidFill>
                  <a:srgbClr val="D97706"/>
                </a:solidFill>
                <a:latin typeface="Segoe UI"/>
              </a:defRPr>
            </a:pPr>
            <a:r>
              <a:t>Instant Anomaly Discovery</a:t>
            </a:r>
          </a:p>
        </p:txBody>
      </p:sp>
      <p:sp>
        <p:nvSpPr>
          <p:cNvPr id="7" name="Rounded Rectangle 6"/>
          <p:cNvSpPr/>
          <p:nvPr/>
        </p:nvSpPr>
        <p:spPr>
          <a:xfrm>
            <a:off x="3200400" y="1097280"/>
            <a:ext cx="274320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sz="800">
                <a:solidFill>
                  <a:srgbClr val="334155"/>
                </a:solidFill>
              </a:defRPr>
            </a:pPr>
            <a:r>
              <a:t>Unsupervised Drain + Isolation Forest flags unknown failure patterns in &lt;8ms without labeled datasets.</a:t>
            </a:r>
          </a:p>
        </p:txBody>
      </p:sp>
      <p:sp>
        <p:nvSpPr>
          <p:cNvPr id="8" name="Rounded Rectangle 7"/>
          <p:cNvSpPr/>
          <p:nvPr/>
        </p:nvSpPr>
        <p:spPr>
          <a:xfrm>
            <a:off x="731520" y="2103120"/>
            <a:ext cx="2377440" cy="868680"/>
          </a:xfrm>
          <a:prstGeom prst="roundRect">
            <a:avLst/>
          </a:prstGeom>
          <a:solidFill>
            <a:srgbClr val="F0F7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b="1" sz="950">
                <a:solidFill>
                  <a:srgbClr val="2563EB"/>
                </a:solidFill>
                <a:latin typeface="Segoe UI"/>
              </a:defRPr>
            </a:pPr>
            <a:r>
              <a:t>Grounded Runbook Guidance</a:t>
            </a:r>
          </a:p>
        </p:txBody>
      </p:sp>
      <p:sp>
        <p:nvSpPr>
          <p:cNvPr id="9" name="Rounded Rectangle 8"/>
          <p:cNvSpPr/>
          <p:nvPr/>
        </p:nvSpPr>
        <p:spPr>
          <a:xfrm>
            <a:off x="3200400" y="2103120"/>
            <a:ext cx="274320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sz="800">
                <a:solidFill>
                  <a:srgbClr val="334155"/>
                </a:solidFill>
              </a:defRPr>
            </a:pPr>
            <a:r>
              <a:t>TF-IDF vector matcher cites official SRE runbooks, completely eliminating AI hallucinations.</a:t>
            </a:r>
          </a:p>
        </p:txBody>
      </p:sp>
      <p:sp>
        <p:nvSpPr>
          <p:cNvPr id="10" name="Rounded Rectangle 9"/>
          <p:cNvSpPr/>
          <p:nvPr/>
        </p:nvSpPr>
        <p:spPr>
          <a:xfrm>
            <a:off x="731520" y="3108960"/>
            <a:ext cx="2377440" cy="868680"/>
          </a:xfrm>
          <a:prstGeom prst="roundRect">
            <a:avLst/>
          </a:prstGeom>
          <a:solidFill>
            <a:srgbClr val="FAF5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b="1" sz="950">
                <a:solidFill>
                  <a:srgbClr val="7C3AED"/>
                </a:solidFill>
                <a:latin typeface="Segoe UI"/>
              </a:defRPr>
            </a:pPr>
            <a:r>
              <a:t>Zero-Shell Policy Boundary</a:t>
            </a:r>
          </a:p>
        </p:txBody>
      </p:sp>
      <p:sp>
        <p:nvSpPr>
          <p:cNvPr id="11" name="Rounded Rectangle 10"/>
          <p:cNvSpPr/>
          <p:nvPr/>
        </p:nvSpPr>
        <p:spPr>
          <a:xfrm>
            <a:off x="3200400" y="3108960"/>
            <a:ext cx="274320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sz="800">
                <a:solidFill>
                  <a:srgbClr val="334155"/>
                </a:solidFill>
              </a:defRPr>
            </a:pPr>
            <a:r>
              <a:t>Strict allowlist blocks destructive commands (rm -rf /) and isolates untrusted script execution.</a:t>
            </a:r>
          </a:p>
        </p:txBody>
      </p:sp>
      <p:sp>
        <p:nvSpPr>
          <p:cNvPr id="12" name="Rounded Rectangle 11"/>
          <p:cNvSpPr/>
          <p:nvPr/>
        </p:nvSpPr>
        <p:spPr>
          <a:xfrm>
            <a:off x="731520" y="4114800"/>
            <a:ext cx="2377440" cy="868680"/>
          </a:xfrm>
          <a:prstGeom prst="roundRect">
            <a:avLst/>
          </a:prstGeom>
          <a:solidFill>
            <a:srgbClr val="F2F9F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b="1" sz="950">
                <a:solidFill>
                  <a:srgbClr val="10B981"/>
                </a:solidFill>
                <a:latin typeface="Segoe UI"/>
              </a:defRPr>
            </a:pPr>
            <a:r>
              <a:t>Autonomous Closed-Loop MTTR</a:t>
            </a:r>
          </a:p>
        </p:txBody>
      </p:sp>
      <p:sp>
        <p:nvSpPr>
          <p:cNvPr id="13" name="Rounded Rectangle 12"/>
          <p:cNvSpPr/>
          <p:nvPr/>
        </p:nvSpPr>
        <p:spPr>
          <a:xfrm>
            <a:off x="3200400" y="4114800"/>
            <a:ext cx="274320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sz="800">
                <a:solidFill>
                  <a:srgbClr val="334155"/>
                </a:solidFill>
              </a:defRPr>
            </a:pPr>
            <a:r>
              <a:t>Cuts incident resolution from 60+ minutes to &lt;15 seconds through an automated reflex arc.</a:t>
            </a:r>
          </a:p>
        </p:txBody>
      </p:sp>
      <p:sp>
        <p:nvSpPr>
          <p:cNvPr id="14" name="Rounded Rectangle 13"/>
          <p:cNvSpPr/>
          <p:nvPr/>
        </p:nvSpPr>
        <p:spPr>
          <a:xfrm>
            <a:off x="731520" y="5120640"/>
            <a:ext cx="2377440" cy="868680"/>
          </a:xfrm>
          <a:prstGeom prst="roundRect">
            <a:avLst/>
          </a:prstGeom>
          <a:solidFill>
            <a:srgbClr val="FFFAF0"/>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b="1" sz="950">
                <a:solidFill>
                  <a:srgbClr val="D97706"/>
                </a:solidFill>
                <a:latin typeface="Segoe UI"/>
              </a:defRPr>
            </a:pPr>
            <a:r>
              <a:t>Immutable Forensic Auditability</a:t>
            </a:r>
          </a:p>
        </p:txBody>
      </p:sp>
      <p:sp>
        <p:nvSpPr>
          <p:cNvPr id="15" name="Rounded Rectangle 14"/>
          <p:cNvSpPr/>
          <p:nvPr/>
        </p:nvSpPr>
        <p:spPr>
          <a:xfrm>
            <a:off x="3200400" y="5120640"/>
            <a:ext cx="274320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73152" tIns="73152"/>
          <a:lstStyle/>
          <a:p>
            <a:pPr algn="ctr">
              <a:defRPr sz="800">
                <a:solidFill>
                  <a:srgbClr val="334155"/>
                </a:solidFill>
              </a:defRPr>
            </a:pPr>
            <a:r>
              <a:t>Every incident, AI diagnosis, operator approval, and container action is permanently logged to SQLite WAL.</a:t>
            </a:r>
          </a:p>
        </p:txBody>
      </p:sp>
      <p:sp>
        <p:nvSpPr>
          <p:cNvPr id="16" name="Rounded Rectangle 15"/>
          <p:cNvSpPr/>
          <p:nvPr/>
        </p:nvSpPr>
        <p:spPr>
          <a:xfrm>
            <a:off x="6217920" y="1097280"/>
            <a:ext cx="5212080" cy="5303520"/>
          </a:xfrm>
          <a:prstGeom prst="roundRect">
            <a:avLst/>
          </a:prstGeom>
          <a:solidFill>
            <a:srgbClr val="FFFFFF"/>
          </a:solidFill>
          <a:ln w="254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818120" y="3108960"/>
            <a:ext cx="2011680" cy="1097280"/>
          </a:xfrm>
          <a:prstGeom prst="roundRect">
            <a:avLst/>
          </a:prstGeom>
          <a:solidFill>
            <a:srgbClr val="F0F7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2563EB"/>
                </a:solidFill>
                <a:latin typeface="Georgia"/>
              </a:defRPr>
            </a:pPr>
            <a:r>
              <a:t>AUTOSRE</a:t>
            </a:r>
            <a:br/>
            <a:r>
              <a:t>CONTROL PLANE</a:t>
            </a:r>
          </a:p>
        </p:txBody>
      </p:sp>
      <p:sp>
        <p:nvSpPr>
          <p:cNvPr id="18" name="Rounded Rectangle 17"/>
          <p:cNvSpPr/>
          <p:nvPr/>
        </p:nvSpPr>
        <p:spPr>
          <a:xfrm>
            <a:off x="6400800" y="1280160"/>
            <a:ext cx="2286000" cy="1097280"/>
          </a:xfrm>
          <a:prstGeom prst="roundRect">
            <a:avLst/>
          </a:prstGeom>
          <a:solidFill>
            <a:srgbClr val="FFFAF0"/>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D97706"/>
                </a:solidFill>
              </a:defRPr>
            </a:pPr>
            <a:r>
              <a:t>SRE &amp; On-Call Engineers</a:t>
            </a:r>
          </a:p>
          <a:p>
            <a:pPr>
              <a:spcBef>
                <a:spcPts val="200"/>
              </a:spcBef>
              <a:defRPr sz="750">
                <a:solidFill>
                  <a:srgbClr val="334155"/>
                </a:solidFill>
              </a:defRPr>
            </a:pPr>
            <a:r>
              <a:t>• Eliminates 3 AM panic alerts</a:t>
            </a:r>
            <a:br/>
            <a:r>
              <a:t>• Automated triage &amp; 1-click approvals</a:t>
            </a:r>
          </a:p>
        </p:txBody>
      </p:sp>
      <p:sp>
        <p:nvSpPr>
          <p:cNvPr id="19" name="Rounded Rectangle 18"/>
          <p:cNvSpPr/>
          <p:nvPr/>
        </p:nvSpPr>
        <p:spPr>
          <a:xfrm>
            <a:off x="8961120" y="1280160"/>
            <a:ext cx="2286000" cy="1097280"/>
          </a:xfrm>
          <a:prstGeom prst="roundRect">
            <a:avLst/>
          </a:prstGeom>
          <a:solidFill>
            <a:srgbClr val="F0F7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2563EB"/>
                </a:solidFill>
              </a:defRPr>
            </a:pPr>
            <a:r>
              <a:t>Development Teams</a:t>
            </a:r>
          </a:p>
          <a:p>
            <a:pPr>
              <a:spcBef>
                <a:spcPts val="200"/>
              </a:spcBef>
              <a:defRPr sz="750">
                <a:solidFill>
                  <a:srgbClr val="334155"/>
                </a:solidFill>
              </a:defRPr>
            </a:pPr>
            <a:r>
              <a:t>• Instant root-cause explanations</a:t>
            </a:r>
            <a:br/>
            <a:r>
              <a:t>• No digging through gigabytes of logs</a:t>
            </a:r>
          </a:p>
        </p:txBody>
      </p:sp>
      <p:sp>
        <p:nvSpPr>
          <p:cNvPr id="20" name="Rounded Rectangle 19"/>
          <p:cNvSpPr/>
          <p:nvPr/>
        </p:nvSpPr>
        <p:spPr>
          <a:xfrm>
            <a:off x="6400800" y="4434840"/>
            <a:ext cx="2286000" cy="1097280"/>
          </a:xfrm>
          <a:prstGeom prst="roundRect">
            <a:avLst/>
          </a:prstGeom>
          <a:solidFill>
            <a:srgbClr val="F2F9F6"/>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10B981"/>
                </a:solidFill>
              </a:defRPr>
            </a:pPr>
            <a:r>
              <a:t>Business &amp; Customers</a:t>
            </a:r>
          </a:p>
          <a:p>
            <a:pPr>
              <a:spcBef>
                <a:spcPts val="200"/>
              </a:spcBef>
              <a:defRPr sz="750">
                <a:solidFill>
                  <a:srgbClr val="334155"/>
                </a:solidFill>
              </a:defRPr>
            </a:pPr>
            <a:r>
              <a:t>• 99.6% downtime reduction</a:t>
            </a:r>
            <a:br/>
            <a:r>
              <a:t>• Protects SLAs and prevents revenue loss</a:t>
            </a:r>
          </a:p>
        </p:txBody>
      </p:sp>
      <p:sp>
        <p:nvSpPr>
          <p:cNvPr id="21" name="Rounded Rectangle 20"/>
          <p:cNvSpPr/>
          <p:nvPr/>
        </p:nvSpPr>
        <p:spPr>
          <a:xfrm>
            <a:off x="8961120" y="4434840"/>
            <a:ext cx="2286000" cy="1097280"/>
          </a:xfrm>
          <a:prstGeom prst="roundRect">
            <a:avLst/>
          </a:prstGeom>
          <a:solidFill>
            <a:srgbClr val="FAF5FF"/>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54864" tIns="54864"/>
          <a:lstStyle/>
          <a:p>
            <a:pPr algn="ctr">
              <a:defRPr b="1" sz="900">
                <a:solidFill>
                  <a:srgbClr val="7C3AED"/>
                </a:solidFill>
              </a:defRPr>
            </a:pPr>
            <a:r>
              <a:t>Security &amp; Compliance</a:t>
            </a:r>
          </a:p>
          <a:p>
            <a:pPr>
              <a:spcBef>
                <a:spcPts val="200"/>
              </a:spcBef>
              <a:defRPr sz="750">
                <a:solidFill>
                  <a:srgbClr val="334155"/>
                </a:solidFill>
              </a:defRPr>
            </a:pPr>
            <a:r>
              <a:t>• Zero-Shell blocks arbitrary bash</a:t>
            </a:r>
            <a:br/>
            <a:r>
              <a:t>• 100% auditable immutable SQLite log</a:t>
            </a:r>
          </a:p>
        </p:txBody>
      </p:sp>
      <p:sp>
        <p:nvSpPr>
          <p:cNvPr id="22" name="Rounded Rectangle 21"/>
          <p:cNvSpPr/>
          <p:nvPr/>
        </p:nvSpPr>
        <p:spPr>
          <a:xfrm>
            <a:off x="731520" y="6217920"/>
            <a:ext cx="10698480" cy="36576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6217920"/>
            <a:ext cx="10515600" cy="320040"/>
          </a:xfrm>
          <a:prstGeom prst="rect">
            <a:avLst/>
          </a:prstGeom>
          <a:noFill/>
        </p:spPr>
        <p:txBody>
          <a:bodyPr wrap="none">
            <a:spAutoFit/>
          </a:bodyPr>
          <a:lstStyle/>
          <a:p>
            <a:pPr algn="ctr">
              <a:defRPr b="1" sz="850">
                <a:solidFill>
                  <a:srgbClr val="2563EB"/>
                </a:solidFill>
              </a:defRPr>
            </a:pPr>
            <a:r>
              <a:t>🎓 DEFENSE READY • 36/36 UNIT TESTS PASSING • QUESTIONS &amp; ARCHITECTURAL DISCUSSION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